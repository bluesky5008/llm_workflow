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자료는 llm_workflow 저장소의 전체 개발 내용을 공유하기 위한 것입니다. 설득이나 의사결정용이 아니라 "우리가 무엇을 왜 이렇게 만들었는지"의 정보 공유가 목적입니다. 자료 자체도 이 워크플로우(wf-design 승인 관문 → wf-implement TDD 구현)를 통과해 만들어졌습니다.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모두 지시("잘 부탁한다")를 강화하는 것만으로는 재발합니다. 왜 구조적인지를 다음 장에서 보고, 그 다음에 해법의 구조를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전제들은 이 저장소의 요구사항 문서(문제와 목적 절)에 그대로 명문화되어 있고, 뒤에 나올 모든 설계 — 문서 정본 원칙, 승인 관문의 영구 기록, 세션 핸드오프 — 가 여기서 출발합니다.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 조직의 설계 리뷰 게이트를 AI 협업에 이식한 구조입니다. 핵심은 승인 관문이 대화가 아니라 문서(기준선 vN + 승인 기록)로 영구화된다는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정본 원칙 덕에 규칙을 고칠 때 한 곳만 수정하면 됩니다. 각 스킬에 상대 스킬과의 경계표가 있고 어느 쪽이 정본인지 문서에 박혀 있어, 규칙 충돌 시 판정 기준이 명확합니다.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구현 방법을 요구사항으로 고정하지 않는 것이 원칙입니다. 인수 조건은 "입력·행동·관찰 가능한 결과"를 갖춰 가능한 한 자동 테스트로 전환할 수 있는 형태로 작성합니다.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"누가 언제 무엇을 승인했는가"가 문서로 남아, 다음 세션의 AI가 대화 기록 없이도 유효한 기준선을 판단할 수 있습니다. 오늘 이 발표 자료 자체도 이 관문을 통과해(기준선 v1) 만들어졌습니다.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검증은 위험에 비례해 정적 분석 → 단위 → 통합 → 시나리오 → 비기능 → 실행 확인 순서로 수행합니다. 테스트 실패는 "이번 변경 탓 / 기존 실패 / 환경 탓 / 원인 불명"으로 분류해 기록합니다.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"해법에는 게으르되, 조사에는 게으르지 않는다" — 사다리는 문제를 이해한 뒤 적용하는 것이지 이해를 대신하지 않습니다. 과잉 구현(실패 모드 2번)을 막는 직접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원칙 한 줄 — "대화에만 존재하는 결정과 증거를 문서의 확정 정보로 취급하지 않는다". 세션이 끝나면 대화는 사라진 것으로 간주하고, 문서만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처음엔 작업별 산출물 구조였다가 "저장소 관통 + 작업 일지" 모델로 재편했습니다(커밋 d5292ad). 현행 상태와 이력을 분리한 것이 핵심입니다. 각 문서의 위치·필요성은 내용 소유자인 wf-design·wf-implement가, 형식은 wf-doc이 소유합니다.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목적은 누락 방지입니다 — 승인 관문, 자체 리뷰, 롤백 준비처럼 잊기 쉬운 항목을 노드 유형별 템플릿이 구조적으로 상기시킵니다. 항목의 의미·완료 판정은 여전히 wf-design·wf-implement 소유입니다.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기록 의무도 조건부입니다 — 경량 작업이 "현재 세션 안에 끝나지 않을 것으로 보이면" 그때부터 재개 가능한 기록을 시작합니다. 짧은 작업은 절단 확률과 손실이 모두 작아 상시 기록의 비용이 이득을 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전제 — 모델은 자기 컨텍스트 사용량을 신뢰성 있게 알지 못합니다(슬라이드 3). A층만으로도 워크플로우는 성립하고, 자동화가 전부 죽어도 수동 경로가 남습니다. C층은 자발성 의존 지점을 기계로 보강하는 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까다로운 부분은 "사용량 신호"입니다 — 하네스마다 제공 정보가 다릅니다. 참조 구현은 접근 가능한 문서화된 신호(대화 기록 파일 크기의 성장량)를 프록시로 채택했고, 이 선택은 대안 비교와 함께 ADR-001로 기록되어 있습니다. 새 하네스 어댑터도 같은 결정 구조를 재사용하면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SEMCo-Work의 확장점 세부는 아직 확인 전이므로, 위 3가지는 어댑터가 요구하는 능력으로 읽어 주세요. 일부가 없더라도 참조 구현이 그랬듯(직접 신호가 없어 파일 크기 프록시 채택) 대체 신호로 성립시킬 수 있습니다. 회사 주력 하네스가 될 예정인 만큼 C층 어댑터를 후속 과제의 우선순위로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 → 스킬 → 자동화 순서로 성숙해 온 흐름입니다. 규칙을 먼저 산문으로 합의하고, 실행 가능한 스킬로 변환하고, 마지막에 하네스 자동화로 보강했습니다.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질문을 받습니다. 직접 써 보려면 저장소를 클론하고 setup 스크립트 한 번 실행이면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011680"/>
            <a:ext cx="10515600" cy="1463040"/>
          </a:xfrm>
        </p:spPr>
        <p:txBody>
          <a:bodyPr/>
          <a:lstStyle/>
          <a:p>
            <a:r>
              <a:rPr sz="4000">
                <a:latin typeface="맑은 고딕"/>
                <a:ea typeface="맑은 고딕"/>
              </a:rPr>
              <a:t>Human–AI Development Workflow — llm_workflow 개발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657600"/>
            <a:ext cx="10515600" cy="2011680"/>
          </a:xfrm>
        </p:spPr>
        <p:txBody>
          <a:bodyPr/>
          <a:lstStyle/>
          <a:p>
            <a:r>
              <a:rPr sz="1800">
                <a:latin typeface="맑은 고딕"/>
                <a:ea typeface="맑은 고딕"/>
              </a:rPr>
              <a:t>AI에게 코딩을 맡길 때의 개발 워크플로우: 스킬 4종, 문서 모델, 세션 핸드오프</a:t>
            </a:r>
          </a:p>
          <a:p>
            <a:r>
              <a:rPr sz="1800">
                <a:latin typeface="맑은 고딕"/>
                <a:ea typeface="맑은 고딕"/>
              </a:rPr>
              <a:t>내부 동료 개발자 공유용 · 정보 공유 목적</a:t>
            </a:r>
          </a:p>
          <a:p>
            <a:r>
              <a:rPr sz="1800">
                <a:latin typeface="맑은 고딕"/>
                <a:ea typeface="맑은 고딕"/>
              </a:rPr>
              <a:t>2026-08-09 · github.com/bluesky5008/llm_workflow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AI 코딩 위임의 실패 모드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요구사항이 불명확한 채 구현부터 시작 — 방향이 어긋난 결과물</a:t>
            </a:r>
          </a:p>
          <a:p>
            <a:pPr/>
            <a:r>
              <a:rPr sz="2000">
                <a:latin typeface="맑은 고딕"/>
                <a:ea typeface="맑은 고딕"/>
              </a:rPr>
              <a:t>요청하지 않은 추상화·기능이 붙는 과잉 구현</a:t>
            </a:r>
          </a:p>
          <a:p>
            <a:pPr/>
            <a:r>
              <a:rPr sz="2000">
                <a:latin typeface="맑은 고딕"/>
                <a:ea typeface="맑은 고딕"/>
              </a:rPr>
              <a:t>"완료했습니다"와 실제 동작의 괴리 — 검증 없는 완료 선언</a:t>
            </a:r>
          </a:p>
          <a:p>
            <a:pPr/>
            <a:r>
              <a:rPr sz="2000">
                <a:latin typeface="맑은 고딕"/>
                <a:ea typeface="맑은 고딕"/>
              </a:rPr>
              <a:t>세션이 끊기면 맥락 소실 — 대화에만 있던 결정·계획·검증 결과 유실</a:t>
            </a:r>
          </a:p>
          <a:p>
            <a:pPr/>
            <a:r>
              <a:rPr sz="2000">
                <a:latin typeface="맑은 고딕"/>
                <a:ea typeface="맑은 고딕"/>
              </a:rPr>
              <a:t>이 실패들은 우연이 아니라 구조적이다 → 다음 슬라이드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실패 모드의 뿌리 — LLM의 구조적 특성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컨텍스트 창의 한계: 세션이 길어지면 오래된 내용이 밀려나거나 자동 요약으로 대체된다</a:t>
            </a:r>
          </a:p>
          <a:p>
            <a:pPr/>
            <a:r>
              <a:rPr sz="2000">
                <a:latin typeface="맑은 고딕"/>
                <a:ea typeface="맑은 고딕"/>
              </a:rPr>
              <a:t>자동 요약은 손실 압축: 작업 기록으로 옮겨 두지 않은 결정·검증 결과는 요약에서 왜곡·유실될 수 있다</a:t>
            </a:r>
          </a:p>
          <a:p>
            <a:pPr/>
            <a:r>
              <a:rPr sz="2000">
                <a:latin typeface="맑은 고딕"/>
                <a:ea typeface="맑은 고딕"/>
              </a:rPr>
              <a:t>자기 인식 불가: 모델은 자기 컨텍스트 사용량을 신뢰성 있게 알지 못한다 — "적당히 길어지면 정리해"가 작동하지 않는 이유</a:t>
            </a:r>
          </a:p>
          <a:p>
            <a:pPr/>
            <a:r>
              <a:rPr sz="2000">
                <a:latin typeface="맑은 고딕"/>
                <a:ea typeface="맑은 고딕"/>
              </a:rPr>
              <a:t>대화는 휘발: 세션 간에 남는 것은 파일뿐 — 대화 속 합의는 다음 세션에 존재하지 않는다</a:t>
            </a:r>
          </a:p>
          <a:p>
            <a:pPr/>
            <a:r>
              <a:rPr sz="2000">
                <a:latin typeface="맑은 고딕"/>
                <a:ea typeface="맑은 고딕"/>
              </a:rPr>
              <a:t>지시 이행은 자발성: 전역 규칙 문서는 모델의 이행에 의존한다 — 기계적 강제가 아니다</a:t>
            </a:r>
          </a:p>
          <a:p>
            <a:pPr/>
            <a:r>
              <a:rPr sz="2000">
                <a:latin typeface="맑은 고딕"/>
                <a:ea typeface="맑은 고딕"/>
              </a:rPr>
              <a:t>따라서 해법은 지시 강화가 아니라 구조: 문서를 정본으로 만들고, 핵심 지점을 기계화한다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해법 개요 ① — 2-워크플로우와 승인 관문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>
              <a:buNone/>
            </a:pPr>
            <a:r>
              <a:rPr sz="1300">
                <a:latin typeface="Consolas"/>
                <a:ea typeface="맑은 고딕"/>
              </a:rPr>
              <a:t>작업 요청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  → [WF1] 요구사항 정의 + SW 설계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  → ★ 사용자 승인 관문 — 기준선 vN 발행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  → [WF2] 계획 + 구현 + 검증·리뷰 + 통합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  → 완료 (증거 포함 보고)</a:t>
            </a:r>
          </a:p>
          <a:p>
            <a:pPr/>
            <a:r>
              <a:rPr sz="2000">
                <a:latin typeface="맑은 고딕"/>
                <a:ea typeface="맑은 고딕"/>
              </a:rPr>
              <a:t>WF1이 "무엇을 왜 어떤 구조로", WF2가 "어떻게 만들고 완료를 어떻게 증명할지"를 소유</a:t>
            </a:r>
          </a:p>
          <a:p>
            <a:pPr/>
            <a:r>
              <a:rPr sz="2000">
                <a:latin typeface="맑은 고딕"/>
                <a:ea typeface="맑은 고딕"/>
              </a:rPr>
              <a:t>승인되지 않은 요구사항·설계는 구현 기준으로 사용하지 않음</a:t>
            </a:r>
          </a:p>
          <a:p>
            <a:pPr/>
            <a:r>
              <a:rPr sz="2000">
                <a:latin typeface="맑은 고딕"/>
                <a:ea typeface="맑은 고딕"/>
              </a:rPr>
              <a:t>작은 작업은 경량 경로로 WF1 생략 가능 (뒤 슬라이드)</a:t>
            </a:r>
          </a:p>
          <a:p>
            <a:pPr/>
            <a:r>
              <a:rPr sz="2000">
                <a:latin typeface="맑은 고딕"/>
                <a:ea typeface="맑은 고딕"/>
              </a:rPr>
              <a:t>이 구조의 각 기능은 스킬로 구현된다 → 다음 슬라이드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해법 개요 ② — 기능을 구현하는 스킬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>
              <a:buNone/>
            </a:pPr>
            <a:r>
              <a:rPr sz="1300">
                <a:latin typeface="Consolas"/>
                <a:ea typeface="맑은 고딕"/>
              </a:rPr>
              <a:t>[WF1] 요구사항·설계·승인·기준선   →  wf-design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[WF2] 계획·구현·검증·리뷰·통합    →  wf-implement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공통   기록 형식·식별자·추적성     →  wf-doc   (문서 형식 계층)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공통   계획 트리·진행 시각화       →  wf-tree  (선택 계층)</a:t>
            </a:r>
          </a:p>
          <a:p>
            <a:pPr/>
            <a:r>
              <a:rPr sz="2000">
                <a:latin typeface="맑은 고딕"/>
                <a:ea typeface="맑은 고딕"/>
              </a:rPr>
              <a:t>실행 기준(정본)은 스킬 문서 4개 — 다른 문서·사본과 다르면 스킬을 따름</a:t>
            </a:r>
          </a:p>
          <a:p>
            <a:pPr/>
            <a:r>
              <a:rPr sz="2000">
                <a:latin typeface="맑은 고딕"/>
                <a:ea typeface="맑은 고딕"/>
              </a:rPr>
              <a:t>내용 소유자 vs 형식 소유자 분리: "무엇을 기록할지"와 "어떻게 적을지"를 다른 스킬이 소유</a:t>
            </a:r>
          </a:p>
          <a:p>
            <a:pPr/>
            <a:r>
              <a:rPr sz="2000">
                <a:latin typeface="맑은 고딕"/>
                <a:ea typeface="맑은 고딕"/>
              </a:rPr>
              <a:t>겹치는 규칙은 복제하지 않음 — 한쪽에 정본, 다른 쪽엔 요약 + 링크 (경계표마다 정본 위치 명시)</a:t>
            </a:r>
          </a:p>
          <a:p>
            <a:pPr/>
            <a:r>
              <a:rPr sz="2000">
                <a:latin typeface="맑은 고딕"/>
                <a:ea typeface="맑은 고딕"/>
              </a:rPr>
              <a:t>진입점: 스킬 자동 로드가 없는 에이전트용 루트 SKILL.md 라우터</a:t>
            </a:r>
          </a:p>
          <a:p>
            <a:pPr/>
            <a:r>
              <a:rPr sz="2000">
                <a:latin typeface="맑은 고딕"/>
                <a:ea typeface="맑은 고딕"/>
              </a:rPr>
              <a:t>이어지는 슬라이드에서 스킬 ①~④를 하나씩 본다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스킬 ① wf-design — 요구사항 정의 + SW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조사 먼저: 확인 가능한 사실은 사용자에게 묻기 전에 저장소·실행 환경에서 조사</a:t>
            </a:r>
          </a:p>
          <a:p>
            <a:pPr/>
            <a:r>
              <a:rPr sz="2000">
                <a:latin typeface="맑은 고딕"/>
                <a:ea typeface="맑은 고딕"/>
              </a:rPr>
              <a:t>사실 / 해석 / 가정 / 질문을 구분해 기록 — 추측을 사실로 승격하지 않음</a:t>
            </a:r>
          </a:p>
          <a:p>
            <a:pPr/>
            <a:r>
              <a:rPr sz="2000">
                <a:latin typeface="맑은 고딕"/>
                <a:ea typeface="맑은 고딕"/>
              </a:rPr>
              <a:t>산출물: 기능·비기능 요구사항(FR·NFR), 측정 가능한 인수 조건(AC), 설계 요소(DES), 위험</a:t>
            </a:r>
          </a:p>
          <a:p>
            <a:pPr/>
            <a:r>
              <a:rPr sz="2000">
                <a:latin typeface="맑은 고딕"/>
                <a:ea typeface="맑은 고딕"/>
              </a:rPr>
              <a:t>ADR: 장기 영향·비가역 결정은 대안 비교와 함께 별도 기록</a:t>
            </a:r>
          </a:p>
          <a:p>
            <a:pPr/>
            <a:r>
              <a:rPr sz="2000">
                <a:latin typeface="맑은 고딕"/>
                <a:ea typeface="맑은 고딕"/>
              </a:rPr>
              <a:t>DCR: 구현 중 승인된 기준선을 바꿔야 할 때 — 재승인 전까지 제안 상태, 영향 구현은 보류</a:t>
            </a:r>
          </a:p>
          <a:p>
            <a:pPr/>
            <a:r>
              <a:rPr sz="2000">
                <a:latin typeface="맑은 고딕"/>
                <a:ea typeface="맑은 고딕"/>
              </a:rPr>
              <a:t>역공학 절차: 승인된 문서가 없는 기존 코드의 현행 상태를 증거 기반으로 복원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스킬 ① wf-design — 승인 관문과 기준선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대화형 승인 요청: 목표·범위·핵심 요구사항·설계 요약·주요 결정·가정·위험을 요약하고 명시적으로 질문</a:t>
            </a:r>
          </a:p>
          <a:p>
            <a:pPr/>
            <a:r>
              <a:rPr sz="2000">
                <a:latin typeface="맑은 고딕"/>
                <a:ea typeface="맑은 고딕"/>
              </a:rPr>
              <a:t>응답 4종과 상태 전이: 승인(approved) / 수정 요청(draft로) / 거부(rejected) / 보류(on-hold)</a:t>
            </a:r>
          </a:p>
          <a:p>
            <a:pPr/>
            <a:r>
              <a:rPr sz="2000">
                <a:latin typeface="맑은 고딕"/>
                <a:ea typeface="맑은 고딕"/>
              </a:rPr>
              <a:t>승인 시 기준선 vN 발행 — 재승인마다 v2, v3… 번호는 건너뛰거나 재사용하지 않음</a:t>
            </a:r>
          </a:p>
          <a:p>
            <a:pPr/>
            <a:r>
              <a:rPr sz="2000">
                <a:latin typeface="맑은 고딕"/>
                <a:ea typeface="맑은 고딕"/>
              </a:rPr>
              <a:t>승인은 대화에만 남기지 않고 문서의 승인 기록 절에 영구화</a:t>
            </a:r>
          </a:p>
          <a:p>
            <a:pPr/>
            <a:r>
              <a:rPr sz="2000">
                <a:latin typeface="맑은 고딕"/>
                <a:ea typeface="맑은 고딕"/>
              </a:rPr>
              <a:t>결정 등록부(docs/decisions.md): ADR·DCR의 저장소 전역 일련번호와 한눈 조망</a:t>
            </a:r>
          </a:p>
          <a:p>
            <a:pPr/>
            <a:r>
              <a:rPr sz="2000">
                <a:latin typeface="맑은 고딕"/>
                <a:ea typeface="맑은 고딕"/>
              </a:rPr>
              <a:t>설계 승인 ≠ 실행 승인: push·배포·삭제 등 외부·비가역 작업은 별도 명시 승인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스킬 ② wf-implement — 계획 + 구현 + 검증·리뷰 + 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시작 조건: 승인된 기준선. 없으면 정식 구현을 시작하지 않음</a:t>
            </a:r>
          </a:p>
          <a:p>
            <a:pPr/>
            <a:r>
              <a:rPr sz="2000">
                <a:latin typeface="맑은 고딕"/>
                <a:ea typeface="맑은 고딕"/>
              </a:rPr>
              <a:t>계획: TASK 분해(각각 명확한 결과·완료 조건), 의존성, 작업별 선행 테스트 명시</a:t>
            </a:r>
          </a:p>
          <a:p>
            <a:pPr/>
            <a:r>
              <a:rPr sz="2000">
                <a:latin typeface="맑은 고딕"/>
                <a:ea typeface="맑은 고딕"/>
              </a:rPr>
              <a:t>구현 중 기준선 충돌 감지 → 영향 구현 보류, 증거·초안과 함께 wf-design으로 반환(DCR)</a:t>
            </a:r>
          </a:p>
          <a:p>
            <a:pPr/>
            <a:r>
              <a:rPr sz="2000">
                <a:latin typeface="맑은 고딕"/>
                <a:ea typeface="맑은 고딕"/>
              </a:rPr>
              <a:t>완료의 증거: "코드 작성됨" ≠ 완료 — 인수 조건과 검증 결과로만 판단</a:t>
            </a:r>
          </a:p>
          <a:p>
            <a:pPr/>
            <a:r>
              <a:rPr sz="2000">
                <a:latin typeface="맑은 고딕"/>
                <a:ea typeface="맑은 고딕"/>
              </a:rPr>
              <a:t>실행하지 못한 검증을 성공으로 간주하지 않음. 실패·미수행은 보고에서 숨기지 않음</a:t>
            </a:r>
          </a:p>
          <a:p>
            <a:pPr/>
            <a:r>
              <a:rPr sz="2000">
                <a:latin typeface="맑은 고딕"/>
                <a:ea typeface="맑은 고딕"/>
              </a:rPr>
              <a:t>자체 리뷰(요구사항·정확성·보안·품질 4관점) → 통합 → 최종 보고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스킬 ② wf-implement — 최소 구현 원칙: 결정 사다리와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>
              <a:buNone/>
            </a:pPr>
            <a:r>
              <a:rPr sz="1300">
                <a:latin typeface="Consolas"/>
                <a:ea typeface="맑은 고딕"/>
              </a:rPr>
              <a:t>1 만들 필요가 있는가? (YAGNI)     4 플랫폼 네이티브 기능이 해결하는가?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2 저장소에 이미 있는가?            5 설치된 의존성이 해결하는가?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3 표준 라이브러리가 해결하는가?     6 한 줄로 가능한가?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                                  7 그래도 필요하면 동작하는 최소 코드</a:t>
            </a:r>
          </a:p>
          <a:p>
            <a:pPr/>
            <a:r>
              <a:rPr sz="2000">
                <a:latin typeface="맑은 고딕"/>
                <a:ea typeface="맑은 고딕"/>
              </a:rPr>
              <a:t>코드 작성 전 사다리를 위에서부터 검토, 성립하는 첫 단계에서 멈춤</a:t>
            </a:r>
          </a:p>
          <a:p>
            <a:pPr/>
            <a:r>
              <a:rPr sz="2000">
                <a:latin typeface="맑은 고딕"/>
                <a:ea typeface="맑은 고딕"/>
              </a:rPr>
              <a:t>최소화 금지 영역: 신뢰 경계 입력 검증, 데이터 손실 방지 오류 처리, 보안·접근성</a:t>
            </a:r>
          </a:p>
          <a:p>
            <a:pPr/>
            <a:r>
              <a:rPr sz="2000">
                <a:latin typeface="맑은 고딕"/>
                <a:ea typeface="맑은 고딕"/>
              </a:rPr>
              <a:t>TDD: 테스트가 필요한 로직은 실패하는 테스트 먼저 (Red → Green → Refactor)</a:t>
            </a:r>
          </a:p>
          <a:p>
            <a:pPr/>
            <a:r>
              <a:rPr sz="2000">
                <a:latin typeface="맑은 고딕"/>
                <a:ea typeface="맑은 고딕"/>
              </a:rPr>
              <a:t>버그 수정은 재현 테스트 먼저 — 경량 경로에서도 생략하지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스킬 ③ wf-doc — 문서 공통 포맷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목적: 사람이 빠르게 판단하고, AI가 다음 세션에서 모호함 없이 재개하는 문서</a:t>
            </a:r>
          </a:p>
          <a:p>
            <a:pPr/>
            <a:r>
              <a:rPr sz="2000">
                <a:latin typeface="맑은 고딕"/>
                <a:ea typeface="맑은 고딕"/>
              </a:rPr>
              <a:t>공통 머리말: 문서 유형 · 작업 ID · 상태 · 기준선 · 날짜 · 관련 문서 + 요약(목적/결론/다음 행동)</a:t>
            </a:r>
          </a:p>
          <a:p>
            <a:pPr/>
            <a:r>
              <a:rPr sz="2000">
                <a:latin typeface="맑은 고딕"/>
                <a:ea typeface="맑은 고딕"/>
              </a:rPr>
              <a:t>상태 어휘 11종 고정: draft, awaiting-approval, approved, in-progress, completed, superseded …</a:t>
            </a:r>
          </a:p>
          <a:p>
            <a:pPr/>
            <a:r>
              <a:rPr sz="2000">
                <a:latin typeface="맑은 고딕"/>
                <a:ea typeface="맑은 고딕"/>
              </a:rPr>
              <a:t>식별자 2층: 항목 ID(FR-01, DES-01, TASK-01, VER-01…) / 문서 ID(REQ-, DESIGN-, WORK-…)</a:t>
            </a:r>
          </a:p>
          <a:p>
            <a:pPr/>
            <a:r>
              <a:rPr sz="2000">
                <a:latin typeface="맑은 고딕"/>
                <a:ea typeface="맑은 고딕"/>
              </a:rPr>
              <a:t>하이퍼링크 강제: 문서 관계는 클릭 가능한 링크 + 역방향 링크, 추적표로 FR→DES→TASK→AC→VER 연결</a:t>
            </a:r>
          </a:p>
          <a:p>
            <a:pPr/>
            <a:r>
              <a:rPr sz="2000">
                <a:latin typeface="맑은 고딕"/>
                <a:ea typeface="맑은 고딕"/>
              </a:rPr>
              <a:t>문서가 승인·완료를 대신 선언하지 않음 — 템플릿을 채웠다고 승인된 것이 아님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스킬 ③ wf-doc — 문서 모델: 저장소 관통 문서 + 작업 일지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>
              <a:buNone/>
            </a:pPr>
            <a:r>
              <a:rPr sz="1300">
                <a:latin typeface="Consolas"/>
                <a:ea typeface="맑은 고딕"/>
              </a:rPr>
              <a:t>docs/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├── requirements.md    # 현행 요구사항 — 작업마다 새로 만들지 않고 기준선 누적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├── design.md          # 현행 설계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├── plan.md            # 현행 구현 계획 (완료 사이클은 축약 이관)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├── decisions.md       # ADR·DCR 전역 등록부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└── work/&lt;작업-ID&gt;/    # 작업별 일지: work-log, ADR, DCR</a:t>
            </a:r>
          </a:p>
          <a:p>
            <a:pPr/>
            <a:r>
              <a:rPr sz="2000">
                <a:latin typeface="맑은 고딕"/>
                <a:ea typeface="맑은 고딕"/>
              </a:rPr>
              <a:t>현행 문서는 저장소를 관통하며 기준선(v1→v2…)을 누적 — "지금 유효한 것"이 항상 한곳에</a:t>
            </a:r>
          </a:p>
          <a:p>
            <a:pPr/>
            <a:r>
              <a:rPr sz="2000">
                <a:latin typeface="맑은 고딕"/>
                <a:ea typeface="맑은 고딕"/>
              </a:rPr>
              <a:t>작업 폴더에는 해당 작업의 기록과 결정만 — 이력의 정본</a:t>
            </a:r>
          </a:p>
          <a:p>
            <a:pPr/>
            <a:r>
              <a:rPr sz="2000">
                <a:latin typeface="맑은 고딕"/>
                <a:ea typeface="맑은 고딕"/>
              </a:rPr>
              <a:t>검증·완료 보고는 work-log에 유형을 합쳐 기록 (파일 수 최소화)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스킬 ④ wf-tree — 계획 트리와 포트폴리오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헌장: "제안하되 결정하지 않는다" — 계획의 새 원천이 아니라 구조화·시각화 계층</a:t>
            </a:r>
          </a:p>
          <a:p>
            <a:pPr/>
            <a:r>
              <a:rPr sz="2000">
                <a:latin typeface="맑은 고딕"/>
                <a:ea typeface="맑은 고딕"/>
              </a:rPr>
              <a:t>두 계층: 포트폴리오(노드 = 작업 1개) / 작업 내부(노드 = action item)</a:t>
            </a:r>
          </a:p>
          <a:p>
            <a:pPr/>
            <a:r>
              <a:rPr sz="2000">
                <a:latin typeface="맑은 고딕"/>
                <a:ea typeface="맑은 고딕"/>
              </a:rPr>
              <a:t>분기 템플릿: design 노드엔 리뷰+승인, implement 노드엔 테스트(선행)+리뷰를 자동 제안</a:t>
            </a:r>
          </a:p>
          <a:p>
            <a:pPr/>
            <a:r>
              <a:rPr sz="2000">
                <a:latin typeface="맑은 고딕"/>
                <a:ea typeface="맑은 고딕"/>
              </a:rPr>
              <a:t>필수 게이트는 생략 제안 금지: release·migrate 검증·포트폴리오 승인</a:t>
            </a:r>
          </a:p>
          <a:p>
            <a:pPr/>
            <a:r>
              <a:rPr sz="2000">
                <a:latin typeface="맑은 고딕"/>
                <a:ea typeface="맑은 고딕"/>
              </a:rPr>
              <a:t>단일 소스: 목록이 정본, 트리·다이어그램은 재생성물(generated 표시) — 다르면 목록이 맞음</a:t>
            </a:r>
          </a:p>
          <a:p>
            <a:pPr/>
            <a:r>
              <a:rPr sz="2000">
                <a:latin typeface="맑은 고딕"/>
                <a:ea typeface="맑은 고딕"/>
              </a:rPr>
              <a:t>렌더링: ASCII + Mermaid, 상태별 색상, depends 점선 (완료 노드는 기준선이 바뀌어도 안 되돌림)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경량 경로 — 모든 작업이 정식 경로는 아니다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조건(모두 충족 시 WF1 생략 가능):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동작·공개 인터페이스·데이터 모델·보안에 무영향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국소적이고 되돌리기 쉬움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새 설계 결정·대안 비교 불요</a:t>
            </a:r>
          </a:p>
          <a:p>
            <a:pPr/>
            <a:r>
              <a:rPr sz="2000">
                <a:latin typeface="맑은 고딕"/>
                <a:ea typeface="맑은 고딕"/>
              </a:rPr>
              <a:t>예: 오타·주석 수정, 원인 명확한 단일 버그, 계약을 안 바꾸는 테스트 보강</a:t>
            </a:r>
          </a:p>
          <a:p>
            <a:pPr/>
            <a:r>
              <a:rPr sz="2000">
                <a:latin typeface="맑은 고딕"/>
                <a:ea typeface="맑은 고딕"/>
              </a:rPr>
              <a:t>생략할 수 없는 것: 변경 범위 준수, 위험 비례 검증, 결과·위험 보고, 버그 재현 테스트</a:t>
            </a:r>
          </a:p>
          <a:p>
            <a:pPr/>
            <a:r>
              <a:rPr sz="2000">
                <a:latin typeface="맑은 고딕"/>
                <a:ea typeface="맑은 고딕"/>
              </a:rPr>
              <a:t>판단이 애매하면 정식 경로. 진행 중 조건을 벗어나면 그 시점에 전환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세션 핸드오프 — 개념과 3층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문제: 문서 정본 원칙만으로는 부족한 세 지점이 남는다 — 모두 사람·모델의 자발성 의존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재개 진입(새 세션이 미완료 작업을 알아차리는가) · 절단 신호(언제 인계할지) · 요약 안전망</a:t>
            </a:r>
          </a:p>
          <a:p>
            <a:pPr/>
            <a:r>
              <a:rPr sz="2000">
                <a:latin typeface="맑은 고딕"/>
                <a:ea typeface="맑은 고딕"/>
              </a:rPr>
              <a:t>A층 — 스킬 불변식 (적용 완료): 계획 항목마다 작업 기록 갱신 → 언제 끊겨도 문서만으로 재개, 표준 재개 프롬프트. 하네스와 무관하게 동작</a:t>
            </a:r>
          </a:p>
          <a:p>
            <a:pPr/>
            <a:r>
              <a:rPr sz="2000">
                <a:latin typeface="맑은 고딕"/>
                <a:ea typeface="맑은 고딕"/>
              </a:rPr>
              <a:t>B층 — 저장소 스크립트 (미착수 후보): 재개 가능성 린트 등 결정적 검사 도구</a:t>
            </a:r>
          </a:p>
          <a:p>
            <a:pPr/>
            <a:r>
              <a:rPr sz="2000">
                <a:latin typeface="맑은 고딕"/>
                <a:ea typeface="맑은 고딕"/>
              </a:rPr>
              <a:t>C층 — 하네스 자동화 (참조 구현 완료): 하네스의 확장점으로 세 지점을 기계화</a:t>
            </a:r>
          </a:p>
          <a:p>
            <a:pPr/>
            <a:r>
              <a:rPr sz="2000">
                <a:latin typeface="맑은 고딕"/>
                <a:ea typeface="맑은 고딕"/>
              </a:rPr>
              <a:t>설계 원칙: 스킬 본문은 하네스 중립 — 특정 도구의 기능·사건을 전제하지 않고 의무·상태 어휘로만 규정. 하네스 의존 자동화는 setup/ 어댑터에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세션 핸드오프 — 하네스 중립의 실현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어댑터 패턴: 같은 스킬 정본 하나 ↔ 하네스별 어댑터(setup/)가 각자의 확장점으로 연결</a:t>
            </a:r>
          </a:p>
          <a:p>
            <a:pPr/>
            <a:r>
              <a:rPr sz="2000">
                <a:latin typeface="맑은 고딕"/>
                <a:ea typeface="맑은 고딕"/>
              </a:rPr>
              <a:t>C층 어댑터가 기계화하는 세 개입 지점 (내용은 하네스 공통):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세션 시작 — 미완료 작업 기록이 있으면 "재개 절차를 먼저 적용하라" 주입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사용 중 — 컨텍스트 사용량 신호가 임계값 초과 시 "다음 계획 항목 경계에서 인계" 주입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요약 직후 — "요약은 손실 압축, 작업 기록을 정본으로 재확인하라" 주입</a:t>
            </a:r>
          </a:p>
          <a:p>
            <a:pPr/>
            <a:r>
              <a:rPr sz="2000">
                <a:latin typeface="맑은 고딕"/>
                <a:ea typeface="맑은 고딕"/>
              </a:rPr>
              <a:t>주입 내용은 스킬이 이미 규정한 절차의 포인터만 — 새 규범을 만들지 않음. 오류 시 조용히 통과(fail-open), 워크플로우 미사용 저장소에선 무동작</a:t>
            </a:r>
          </a:p>
          <a:p>
            <a:pPr/>
            <a:r>
              <a:rPr sz="2000">
                <a:latin typeface="맑은 고딕"/>
                <a:ea typeface="맑은 고딕"/>
              </a:rPr>
              <a:t>현재 지원 하네스는 설치 스크립트 한 번으로 사용 가능 — 참조 구현은 TDD(21/21)·실설치·실세션 실증까지 완료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세션 핸드오프 — SEMCo-Work 적용과 구동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A층은 즉시 동작: 문서 규약뿐이므로 SEMCo-Work에서도 추가 개발 없이 성립 — 작업 기록·표준 재개 프롬프트로 수동 재개</a:t>
            </a:r>
          </a:p>
          <a:p>
            <a:pPr/>
            <a:r>
              <a:rPr sz="2000">
                <a:latin typeface="맑은 고딕"/>
                <a:ea typeface="맑은 고딕"/>
              </a:rPr>
              <a:t>C층 어댑터에 필요한 확장점 3가지 (SEMCo-Work의 제공 여부 확인 필요):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세션 시작 시 컨텍스트 주입 · 사용량(또는 프록시) 신호 접근 · 요약 사건 직후 주입</a:t>
            </a:r>
          </a:p>
          <a:p>
            <a:pPr/>
            <a:r>
              <a:rPr sz="2000">
                <a:latin typeface="맑은 고딕"/>
                <a:ea typeface="맑은 고딕"/>
              </a:rPr>
              <a:t>구동 시나리오 (어댑터 완성 시):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세션 시작 → docs/work/ 미완료 기록 감지 → 재개 지시 주입 → 이어서 작업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장기 실행 → 사용량 임계값 초과 → "다음 계획 항목 경계에서 인계" → 기록 갱신 후 안전한 절단</a:t>
            </a:r>
          </a:p>
          <a:p>
            <a:pPr>
              <a:buNone/>
            </a:pPr>
            <a:r>
              <a:rPr sz="1300">
                <a:latin typeface="Consolas"/>
                <a:ea typeface="맑은 고딕"/>
              </a:rPr>
              <a:t>요약 발생 → "문서가 정본" 재정렬 지시 → 요약 왜곡을 작업 기록으로 교정</a:t>
            </a:r>
          </a:p>
          <a:p>
            <a:pPr/>
            <a:r>
              <a:rPr sz="2000">
                <a:latin typeface="맑은 고딕"/>
                <a:ea typeface="맑은 고딕"/>
              </a:rPr>
              <a:t>상태: SEMCo-Work 어댑터는 미구현(후보 과제) — 참조 구현의 계약 테스트·설치 패턴을 재사용해 개발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개발 이력 — 2026-07-24 ~ 08-09, 커밋 26개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07-24 — 시작: 2단계 워크플로우 개요를 문서로 정의</a:t>
            </a:r>
          </a:p>
          <a:p>
            <a:pPr/>
            <a:r>
              <a:rPr sz="2000">
                <a:latin typeface="맑은 고딕"/>
                <a:ea typeface="맑은 고딕"/>
              </a:rPr>
              <a:t>07-25 — 보강: 경량 경로·추적성·세션 연속성, 최소 구현 원칙 → 실행형 스킬로 변환, 설치 스크립트</a:t>
            </a:r>
          </a:p>
          <a:p>
            <a:pPr/>
            <a:r>
              <a:rPr sz="2000">
                <a:latin typeface="맑은 고딕"/>
                <a:ea typeface="맑은 고딕"/>
              </a:rPr>
              <a:t>08-08 — 정합성: 스킬 간 경계 정리와 wf-doc 도입, 역공학 절차, wf-tree 추가, TDD 규정, 루트 라우터</a:t>
            </a:r>
          </a:p>
          <a:p>
            <a:pPr/>
            <a:r>
              <a:rPr sz="2000">
                <a:latin typeface="맑은 고딕"/>
                <a:ea typeface="맑은 고딕"/>
              </a:rPr>
              <a:t>08-09 — 확장: 문서 모델 재편(저장소 관통+일지), 세션 핸드오프 A층 명문화, C층 참조 구현·실증, 이 발표 자료</a:t>
            </a:r>
          </a:p>
          <a:p>
            <a:pPr/>
            <a:r>
              <a:rPr sz="2000">
                <a:latin typeface="맑은 고딕"/>
                <a:ea typeface="맑은 고딕"/>
              </a:rPr>
              <a:t>특징: 워크플로우로 워크플로우를 개발 — C층과 이 자료가 승인 관문·TDD를 통과한 정식 사이클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</p:spPr>
        <p:txBody>
          <a:bodyPr/>
          <a:lstStyle/>
          <a:p>
            <a:r>
              <a:rPr sz="3000">
                <a:latin typeface="맑은 고딕"/>
                <a:ea typeface="맑은 고딕"/>
              </a:rPr>
              <a:t>현재 상태와 남은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47120" cy="5212080"/>
          </a:xfrm>
        </p:spPr>
        <p:txBody>
          <a:bodyPr/>
          <a:lstStyle/>
          <a:p>
            <a:pPr/>
            <a:r>
              <a:rPr sz="2000">
                <a:latin typeface="맑은 고딕"/>
                <a:ea typeface="맑은 고딕"/>
              </a:rPr>
              <a:t>현재: 스킬 4종 + 진입 라우터 + 문서 모델 + 설치 체계 + C층 참조 구현 — 실사용 중</a:t>
            </a:r>
          </a:p>
          <a:p>
            <a:pPr/>
            <a:r>
              <a:rPr sz="2000">
                <a:latin typeface="맑은 고딕"/>
                <a:ea typeface="맑은 고딕"/>
              </a:rPr>
              <a:t>남은 관찰: 훅 주입 가시성 2건 (미완료 작업이 있는 세션 경계·수동 요약에서 자연 확인)</a:t>
            </a:r>
          </a:p>
          <a:p>
            <a:pPr/>
            <a:r>
              <a:rPr sz="2000">
                <a:latin typeface="맑은 고딕"/>
                <a:ea typeface="맑은 고딕"/>
              </a:rPr>
              <a:t>후보 과제: SEMCo-Work C층 어댑터(주력 하네스 — 우선 제안), B층(재개 가능성 린트), 플랫폼 확장(macOS/Linux), 주입 지연 최적화</a:t>
            </a:r>
          </a:p>
          <a:p>
            <a:pPr/>
            <a:r>
              <a:rPr sz="2000">
                <a:latin typeface="맑은 고딕"/>
                <a:ea typeface="맑은 고딕"/>
              </a:rPr>
              <a:t>핵심 원칙 요약: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승인 없는 구현 없음 — 기준선이 먼저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완료는 선언이 아니라 증거 — 실패·미수행도 공개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문서가 정본 — 대화는 휘발, 언제 끊겨도 재개 가능</a:t>
            </a:r>
          </a:p>
          <a:p>
            <a:pPr lvl="1"/>
            <a:r>
              <a:rPr sz="1700">
                <a:latin typeface="맑은 고딕"/>
                <a:ea typeface="맑은 고딕"/>
              </a:rPr>
              <a:t>스킬은 하네스 중립 — 자동화는 어댑터에</a:t>
            </a:r>
          </a:p>
          <a:p>
            <a:pPr/>
            <a:r>
              <a:rPr sz="2000">
                <a:latin typeface="맑은 고딕"/>
                <a:ea typeface="맑은 고딕"/>
              </a:rPr>
              <a:t>저장소: github.com/bluesky5008/llm_workflow — README부터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
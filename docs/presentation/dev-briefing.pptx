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96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6410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llm_workflow 저장소의 전체 개발 내용을 공유하는 자리. 설득이 아니라 정보 공유가 목적. 이 자료 자체도 wf-design 승인 관문과 wf-implement TDD를 통과해 만들어졌다.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모두 '잘 부탁한다'는 지시 강화만으로는 재발한다. 왜 구조적인지를 다음 장에서 보고, 그 다음에 해법의 구조를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전제들은 저장소의 요구사항 문서에 그대로 명문화되어 있다. 뒤에 나올 모든 설계 — 문서 정본 원칙, 승인 관문의 영구 기록, 세션 핸드오프 — 가 여기서 출발한다.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사람 조직의 설계 리뷰 게이트를 AI 협업에 이식한 구조. 핵심은 승인 관문이 대화가 아니라 문서(기준선 vN + 승인 기록)로 영구화된다는 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정본 원칙 덕에 규칙을 고칠 때 한 곳만 수정하면 된다. 각 스킬에 상대 스킬과의 경계표가 있고 어느 쪽이 정본인지 문서에 박혀 있어, 규칙 충돌 시 판정 기준이 명확하다.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구현 방법을 요구사항으로 고정하지 않는 것이 원칙. 인수 조건은 입력·행동·관찰 가능한 결과를 갖춰 가능한 한 자동 테스트로 전환할 수 있는 형태로 작성한다.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누가 언제 무엇을 승인했는가가 문서로 남아, 다음 세션의 AI가 대화 기록 없이도 유효한 기준선을 판단할 수 있다. 오늘 이 발표 자료 자체도 이 관문을 통과해(기준선 v1) 만들어졌다.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검증은 위험에 비례해 정적 분석 → 단위 → 통합 → 시나리오 → 비기능 → 실행 확인 순서. 테스트 실패는 '이번 변경 탓 / 기존 실패 / 환경 탓 / 원인 불명'으로 분류해 기록한다.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'해법에는 게으르되, 조사에는 게으르지 않는다' — 사다리는 문제를 이해한 뒤 적용하는 것. 과잉 구현(실패 모드 2번)을 막는 직접 장치다.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원칙 한 줄 — 대화에만 존재하는 결정과 증거를 문서의 확정 정보로 취급하지 않는다. 세션이 끝나면 대화는 사라진 것으로 간주하고, 문서만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처음엔 작업별 산출물 구조였다가 '저장소 관통 + 작업 일지' 모델로 재편(커밋 d5292ad). 현행 상태와 이력을 분리한 것이 핵심. 위치·필요성은 내용 소유자가, 형식은 wf-doc이 소유.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목적은 누락 방지 — 승인 관문, 자체 리뷰, 롤백 준비처럼 잊기 쉬운 항목을 노드 유형별 템플릿이 구조적으로 상기시킨다. 항목의 의미·완료 판정은 여전히 wf-design·wf-implement 소유. 오른쪽은 실제 작업(deckscan)의 계획 트리 — TASK-01~14가 승인 관문에서 출발해 depends 간선으로 이어지고, 실기·TDD 표지가 노드에 붙는다.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Mermaid 다이어그램은 목록에서 매번 재생성하는 생성물 — 손으로 고치지 않는다. 상태는 classDef 4종. gate는 상태가 아니라 아직 통과하지 않은 필수 관문 강조로, 통과하면 이중 테두리·★를 유지한 채 done 색으로 그린다. depends 점선은 화살표 머리 쪽이 대기자(UML 의존성 화살표와 반대). implement의 test 자식은 첫 자식 + (선행) 라벨. 노드 30 초과면 다이어그램 분할. HTML 등 저장소 밖 산출물은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기록 의무도 조건부 — 경량 작업이 현재 세션 안에 끝나지 않을 것으로 보이면 그때부터 재개 가능한 기록을 시작한다. 짧은 작업은 절단 확률과 손실이 모두 작기 때문.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 — 모델은 자기 컨텍스트 사용량을 신뢰성 있게 알지 못한다(슬라이드 3). A층만으로도 워크플로우는 성립하고, 자동화가 전부 죽어도 수동 경로가 남는다. C층은 자발성 의존 지점을 기계로 보강하는 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까다로운 부분은 사용량 신호 — 하네스마다 제공 정보가 다르다. 참조 구현은 대화 기록 파일 크기 성장량을 프록시로 채택했고 ADR-001로 기록. SEMCo-Work 어댑터는 미구현 후보 과제 — 회사 주력 하네스가 될 예정인 만큼 우선순위로 제안.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문서 → 스킬 → 자동화 순서로 성숙해 온 흐름. 규칙을 먼저 산문으로 합의하고, 실행 가능한 스킬로 변환하고, 마지막에 하네스 자동화로 보강했다.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질문을 받는다. 직접 써 보려면 저장소를 클론하고 setup 스크립트 한 번 실행이면 된다. 남은 관찰: 훅 주입 가시성 2건. 후보 과제: SEMCo-Work C층 어댑터(우선 제안), B층 린트, 플랫폼 확장, 주입 지연 최적화.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2651820"/>
            <a:ext cx="171831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00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BRIEFING · 2026-08-09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33500" y="3299520"/>
            <a:ext cx="17183100" cy="10019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216"/>
              </a:lnSpc>
              <a:buNone/>
            </a:pPr>
            <a:r>
              <a:rPr lang="en-US" sz="6600" b="1" kern="0" spc="-150" dirty="0">
                <a:solidFill>
                  <a:srgbClr val="F1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Human–AI Development Workflow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333500" y="4568130"/>
            <a:ext cx="1718310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571"/>
              </a:lnSpc>
              <a:buNone/>
            </a:pPr>
            <a:r>
              <a:rPr lang="en-US" sz="2700" dirty="0">
                <a:solidFill>
                  <a:srgbClr val="9C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AI에게 코딩을 맡길 때의 개발 워크플로우 — 스킬 4종 · 문서 모델 · 세션 핸드오프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333500" y="5768280"/>
            <a:ext cx="1927920" cy="609600"/>
          </a:xfrm>
          <a:prstGeom prst="roundRect">
            <a:avLst>
              <a:gd name="adj" fmla="val 12500"/>
            </a:avLst>
          </a:prstGeom>
          <a:solidFill>
            <a:srgbClr val="262D3C"/>
          </a:solidFill>
          <a:ln w="9525">
            <a:solidFill>
              <a:srgbClr val="3942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28775" y="5911155"/>
            <a:ext cx="141357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wf-design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451920" y="5768280"/>
            <a:ext cx="2373660" cy="609600"/>
          </a:xfrm>
          <a:prstGeom prst="roundRect">
            <a:avLst>
              <a:gd name="adj" fmla="val 12500"/>
            </a:avLst>
          </a:prstGeom>
          <a:solidFill>
            <a:srgbClr val="262D3C"/>
          </a:solidFill>
          <a:ln w="9525">
            <a:solidFill>
              <a:srgbClr val="3942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7195" y="5911155"/>
            <a:ext cx="185931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wf-implement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016079" y="5768280"/>
            <a:ext cx="1482179" cy="609600"/>
          </a:xfrm>
          <a:prstGeom prst="roundRect">
            <a:avLst>
              <a:gd name="adj" fmla="val 12500"/>
            </a:avLst>
          </a:prstGeom>
          <a:solidFill>
            <a:srgbClr val="262D3C"/>
          </a:solidFill>
          <a:ln w="9525">
            <a:solidFill>
              <a:srgbClr val="3942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1354" y="5911155"/>
            <a:ext cx="96782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wf-doc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7688759" y="5768280"/>
            <a:ext cx="1630710" cy="609600"/>
          </a:xfrm>
          <a:prstGeom prst="roundRect">
            <a:avLst>
              <a:gd name="adj" fmla="val 12500"/>
            </a:avLst>
          </a:prstGeom>
          <a:solidFill>
            <a:srgbClr val="262D3C"/>
          </a:solidFill>
          <a:ln w="9525">
            <a:solidFill>
              <a:srgbClr val="3942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84034" y="5911155"/>
            <a:ext cx="111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wf-tree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33500" y="7330380"/>
            <a:ext cx="171831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github.com/bluesky5008/llm_workflow · 내부 개발자 공유용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위임의 4가지 실패 모드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676525"/>
            <a:ext cx="7962900" cy="2890838"/>
          </a:xfrm>
          <a:prstGeom prst="roundRect">
            <a:avLst>
              <a:gd name="adj" fmla="val 4613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14475" y="3105150"/>
            <a:ext cx="77323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514475" y="3524250"/>
            <a:ext cx="773239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방향이 어긋난 결과물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514475" y="4133850"/>
            <a:ext cx="77323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요구사항이 불명확한 채 구현부터 시작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277350" y="2676525"/>
            <a:ext cx="7962900" cy="2890838"/>
          </a:xfrm>
          <a:prstGeom prst="roundRect">
            <a:avLst>
              <a:gd name="adj" fmla="val 4613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44075" y="3105150"/>
            <a:ext cx="77323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44075" y="3524250"/>
            <a:ext cx="773239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744075" y="4133850"/>
            <a:ext cx="77323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요청하지 않은 추상화·기능이 붙는다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47750" y="5834063"/>
            <a:ext cx="7962900" cy="2890838"/>
          </a:xfrm>
          <a:prstGeom prst="roundRect">
            <a:avLst>
              <a:gd name="adj" fmla="val 4613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4475" y="6262688"/>
            <a:ext cx="77323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514475" y="6681788"/>
            <a:ext cx="773239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없는 완료 선언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514475" y="7291388"/>
            <a:ext cx="77323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“완료했습니다”와 실제 동작의 괴리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277350" y="5834063"/>
            <a:ext cx="7962900" cy="2890838"/>
          </a:xfrm>
          <a:prstGeom prst="roundRect">
            <a:avLst>
              <a:gd name="adj" fmla="val 4613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44075" y="6262688"/>
            <a:ext cx="77323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44075" y="6681788"/>
            <a:ext cx="773239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단절 시 맥락 소실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744075" y="7291388"/>
            <a:ext cx="77323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대화에만 있던 결정·계획·검증 결과 유실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38125" y="9105900"/>
            <a:ext cx="178117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실패들은 우연이 아니라 </a:t>
            </a:r>
            <a:r>
              <a:rPr lang="en-US" sz="2250" b="1" dirty="0">
                <a:solidFill>
                  <a:srgbClr val="14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구조적</a:t>
            </a: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이다</a:t>
            </a:r>
            <a:endParaRPr lang="en-US" sz="2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실패의 뿌리 — LLM의 구조적 특성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3567113"/>
            <a:ext cx="7667625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2075" y="3805237"/>
            <a:ext cx="726900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창의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7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오래된 내용은 밀려난다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1047750" y="4614863"/>
            <a:ext cx="7667625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62075" y="4852988"/>
            <a:ext cx="726900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요약은 손실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압축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175" b="1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217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결정·증거가 왜곡·유실</a:t>
            </a:r>
            <a:endParaRPr lang="en-US" sz="2175" dirty="0"/>
          </a:p>
        </p:txBody>
      </p:sp>
      <p:sp>
        <p:nvSpPr>
          <p:cNvPr id="8" name="Shape 6"/>
          <p:cNvSpPr/>
          <p:nvPr/>
        </p:nvSpPr>
        <p:spPr>
          <a:xfrm>
            <a:off x="1047750" y="5662613"/>
            <a:ext cx="7667625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62075" y="5900738"/>
            <a:ext cx="726900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인식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불가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175" b="1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217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자기 컨텍스트 사용량을 모른다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1047750" y="6710363"/>
            <a:ext cx="7667625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62075" y="6948488"/>
            <a:ext cx="726900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대화는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휘발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175" b="1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217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세션 간에 남는 것은 파일뿐</a:t>
            </a:r>
            <a:endParaRPr lang="en-US" sz="2175" dirty="0"/>
          </a:p>
        </p:txBody>
      </p:sp>
      <p:sp>
        <p:nvSpPr>
          <p:cNvPr id="12" name="Shape 10"/>
          <p:cNvSpPr/>
          <p:nvPr/>
        </p:nvSpPr>
        <p:spPr>
          <a:xfrm>
            <a:off x="1047750" y="7758113"/>
            <a:ext cx="7667625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62075" y="7996237"/>
            <a:ext cx="726900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지시 이행은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자발성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175" b="1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217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규칙 문서는 강제가 아니다</a:t>
            </a:r>
            <a:endParaRPr lang="en-US" sz="2175" dirty="0"/>
          </a:p>
        </p:txBody>
      </p:sp>
      <p:sp>
        <p:nvSpPr>
          <p:cNvPr id="14" name="Text 12"/>
          <p:cNvSpPr/>
          <p:nvPr/>
        </p:nvSpPr>
        <p:spPr>
          <a:xfrm>
            <a:off x="8677275" y="5838825"/>
            <a:ext cx="93345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14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9572625" y="4425255"/>
            <a:ext cx="7667625" cy="3350865"/>
          </a:xfrm>
          <a:prstGeom prst="roundRect">
            <a:avLst>
              <a:gd name="adj" fmla="val 4548"/>
            </a:avLst>
          </a:prstGeom>
          <a:solidFill>
            <a:srgbClr val="1B20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106025" y="4996755"/>
            <a:ext cx="7260908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THEREFORE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106025" y="5530155"/>
            <a:ext cx="7260908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3150" b="1" dirty="0">
                <a:solidFill>
                  <a:srgbClr val="F1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해법은 지시 강화가 아니라 구조</a:t>
            </a:r>
            <a:endParaRPr lang="en-US" sz="3150" dirty="0"/>
          </a:p>
        </p:txBody>
      </p:sp>
      <p:sp>
        <p:nvSpPr>
          <p:cNvPr id="18" name="Text 16"/>
          <p:cNvSpPr/>
          <p:nvPr/>
        </p:nvSpPr>
        <p:spPr>
          <a:xfrm>
            <a:off x="10106025" y="6318796"/>
            <a:ext cx="6798850" cy="923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250" dirty="0">
                <a:solidFill>
                  <a:srgbClr val="9C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문서를 정본으로 만들고, 핵심 지점을 기계화한다</a:t>
            </a:r>
            <a:endParaRPr lang="en-US" sz="2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SOLUTION 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2-워크플로우와 승인 관문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638425"/>
            <a:ext cx="8082558" cy="78105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40837" y="2838450"/>
            <a:ext cx="769638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요청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3622" y="3419475"/>
            <a:ext cx="88908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88235"/>
              </a:lnSpc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1047750" y="3705225"/>
            <a:ext cx="8082558" cy="828675"/>
          </a:xfrm>
          <a:prstGeom prst="roundRect">
            <a:avLst>
              <a:gd name="adj" fmla="val 11494"/>
            </a:avLst>
          </a:prstGeom>
          <a:solidFill>
            <a:srgbClr val="FFFFFF"/>
          </a:solidFill>
          <a:ln w="19050">
            <a:solidFill>
              <a:srgbClr val="146B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0362" y="3914775"/>
            <a:ext cx="767733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75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WF1 </a:t>
            </a:r>
            <a:r>
              <a:rPr lang="en-US" sz="217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정의 + SW 설계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643622" y="4533900"/>
            <a:ext cx="88908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88235"/>
              </a:lnSpc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47750" y="4819650"/>
            <a:ext cx="8082558" cy="819150"/>
          </a:xfrm>
          <a:prstGeom prst="roundRect">
            <a:avLst>
              <a:gd name="adj" fmla="val 11628"/>
            </a:avLst>
          </a:prstGeom>
          <a:solidFill>
            <a:srgbClr val="F6ECD9"/>
          </a:solidFill>
          <a:ln w="19050">
            <a:solidFill>
              <a:srgbClr val="A973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0362" y="5029200"/>
            <a:ext cx="767733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75" b="1" dirty="0">
                <a:solidFill>
                  <a:srgbClr val="5B3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사용자 승인 </a:t>
            </a:r>
            <a:r>
              <a:rPr lang="en-US" sz="2175" b="1" dirty="0" err="1">
                <a:solidFill>
                  <a:srgbClr val="5B3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관문</a:t>
            </a:r>
            <a:r>
              <a:rPr lang="en-US" sz="2175" b="1" dirty="0">
                <a:solidFill>
                  <a:srgbClr val="5B3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기준선 vN 발행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643622" y="5638800"/>
            <a:ext cx="88908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88235"/>
              </a:lnSpc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47750" y="5924550"/>
            <a:ext cx="8082558" cy="828675"/>
          </a:xfrm>
          <a:prstGeom prst="roundRect">
            <a:avLst>
              <a:gd name="adj" fmla="val 11494"/>
            </a:avLst>
          </a:prstGeom>
          <a:solidFill>
            <a:srgbClr val="FFFFFF"/>
          </a:solidFill>
          <a:ln w="19050">
            <a:solidFill>
              <a:srgbClr val="146B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50362" y="6134100"/>
            <a:ext cx="767733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75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WF2 </a:t>
            </a:r>
            <a:r>
              <a:rPr lang="en-US" sz="217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계획 + 구현 + 검증·리뷰 + 통합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643622" y="6753225"/>
            <a:ext cx="88908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88235"/>
              </a:lnSpc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47750" y="7038975"/>
            <a:ext cx="8082558" cy="781050"/>
          </a:xfrm>
          <a:prstGeom prst="roundRect">
            <a:avLst>
              <a:gd name="adj" fmla="val 12195"/>
            </a:avLst>
          </a:prstGeom>
          <a:solidFill>
            <a:srgbClr val="E4EEEE"/>
          </a:solidFill>
          <a:ln w="9525">
            <a:solidFill>
              <a:srgbClr val="146B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0837" y="7239000"/>
            <a:ext cx="769638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0E5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— 증거 포함 보고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892308" y="3938588"/>
            <a:ext cx="8082736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소유의 분리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892308" y="4471988"/>
            <a:ext cx="756838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WF1은 “무엇을 왜 어떤 구조로”, WF2는 “어떻게 만들고 어떻게 증명할지”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892308" y="5614988"/>
            <a:ext cx="8082736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승인이 곧 기준선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892308" y="6148388"/>
            <a:ext cx="756838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승인되지 않은 요구사항·설계는 구현 기준으로 사용하지 않는다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92308" y="7291388"/>
            <a:ext cx="8082736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경량 경로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892308" y="7824787"/>
            <a:ext cx="808273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작은 작업은 WF1 생략 가능 → </a:t>
            </a:r>
            <a:r>
              <a:rPr lang="en-US" sz="2100" dirty="0">
                <a:solidFill>
                  <a:srgbClr val="14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13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SOLUTION 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기능을 구현하는 스킬 아키텍처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638425"/>
            <a:ext cx="161925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8275" y="2895600"/>
            <a:ext cx="130759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WF1 </a:t>
            </a:r>
            <a:r>
              <a:rPr lang="en-US" sz="225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· 설계 · 승인 · 기준선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287375" y="2943225"/>
            <a:ext cx="742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992225" y="2943225"/>
            <a:ext cx="31432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wf-design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47750" y="3762375"/>
            <a:ext cx="161925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38275" y="4019550"/>
            <a:ext cx="130759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WF2 </a:t>
            </a:r>
            <a:r>
              <a:rPr lang="en-US" sz="225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· 구현 · 검증 · 리뷰 · 통합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287375" y="4067175"/>
            <a:ext cx="742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992225" y="4067175"/>
            <a:ext cx="31432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wf-implement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047750" y="4886325"/>
            <a:ext cx="161925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38275" y="5143500"/>
            <a:ext cx="130759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공통 기록 형식 · 식별자 · 추적성 </a:t>
            </a:r>
            <a:r>
              <a:rPr lang="en-US" sz="1950" dirty="0">
                <a:solidFill>
                  <a:srgbClr val="8B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(문서 형식 계층)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3287375" y="5191125"/>
            <a:ext cx="742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3992225" y="5191125"/>
            <a:ext cx="31432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wf-doc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47750" y="6010275"/>
            <a:ext cx="161925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38275" y="6267450"/>
            <a:ext cx="130759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공통 계획 트리 · 진행 시각화 </a:t>
            </a:r>
            <a:r>
              <a:rPr lang="en-US" sz="1950" dirty="0">
                <a:solidFill>
                  <a:srgbClr val="8B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(선택 계층)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287375" y="6315075"/>
            <a:ext cx="742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992225" y="6315075"/>
            <a:ext cx="31432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wf-tree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047750" y="7362825"/>
            <a:ext cx="5376291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정본은 스킬 문서 4개 </a:t>
            </a:r>
          </a:p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2025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</a:t>
            </a: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사본과 다르면 스킬을 따름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6534150" y="7362825"/>
            <a:ext cx="5376291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내용 소유 vs 형식 소유 </a:t>
            </a:r>
            <a:r>
              <a:rPr lang="en-US" sz="202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분리</a:t>
            </a:r>
            <a:r>
              <a:rPr lang="en-US" sz="202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2025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겹치는</a:t>
            </a: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규칙은 정본 + 링크로만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12020550" y="7362825"/>
            <a:ext cx="5376291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진입점: 루트 SKILL.md </a:t>
            </a:r>
            <a:r>
              <a:rPr lang="en-US" sz="202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라우터</a:t>
            </a:r>
            <a:r>
              <a:rPr lang="en-US" sz="202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2025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스킬</a:t>
            </a: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자동 로드가 없는 에이전트용</a:t>
            </a:r>
            <a:endParaRPr lang="en-US" sz="20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 ① — wf-design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정의 + SW 설계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676525"/>
            <a:ext cx="7943850" cy="6848475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14475" y="3105150"/>
            <a:ext cx="77114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원칙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14475" y="3810000"/>
            <a:ext cx="7220712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먼저 : 확인 가능한 사실은 묻기 전에 저장소·실행 환경에서 조사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1514475" y="4848225"/>
            <a:ext cx="7220712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사실 / 해석 / 가정 / 질문을 </a:t>
            </a:r>
            <a:r>
              <a:rPr lang="en-US" sz="2175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추측을 사실로 승격하지 않음</a:t>
            </a:r>
            <a:endParaRPr lang="en-US" sz="2175" dirty="0"/>
          </a:p>
        </p:txBody>
      </p:sp>
      <p:sp>
        <p:nvSpPr>
          <p:cNvPr id="8" name="Text 6"/>
          <p:cNvSpPr/>
          <p:nvPr/>
        </p:nvSpPr>
        <p:spPr>
          <a:xfrm>
            <a:off x="1514475" y="5886450"/>
            <a:ext cx="7220712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역공학 </a:t>
            </a:r>
            <a:r>
              <a:rPr lang="en-US" sz="2175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절차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문서 없는 기존 코드의 현행 상태를 증거 기반으로 복원</a:t>
            </a:r>
            <a:endParaRPr lang="en-US" sz="2175" dirty="0"/>
          </a:p>
        </p:txBody>
      </p:sp>
      <p:sp>
        <p:nvSpPr>
          <p:cNvPr id="9" name="Shape 7"/>
          <p:cNvSpPr/>
          <p:nvPr/>
        </p:nvSpPr>
        <p:spPr>
          <a:xfrm>
            <a:off x="9296400" y="2676525"/>
            <a:ext cx="7943850" cy="6848475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63125" y="3105150"/>
            <a:ext cx="77114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산출물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763125" y="3810000"/>
            <a:ext cx="7220712" cy="885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FR·NFR 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+ 측정 가능한 인수 조건(</a:t>
            </a:r>
            <a:r>
              <a:rPr lang="en-US" sz="217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 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설계 요소( </a:t>
            </a:r>
            <a:r>
              <a:rPr lang="en-US" sz="217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위험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9763125" y="4867275"/>
            <a:ext cx="7711440" cy="461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ADR 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Courier New" pitchFamily="34" charset="-122"/>
                <a:cs typeface="Arial" pitchFamily="34" charset="-120"/>
              </a:rPr>
              <a:t>: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장기 영향·비가역 결정을 대안 비교와 함께 기록</a:t>
            </a:r>
            <a:endParaRPr lang="en-US" sz="2175" dirty="0"/>
          </a:p>
        </p:txBody>
      </p:sp>
      <p:sp>
        <p:nvSpPr>
          <p:cNvPr id="13" name="Text 11"/>
          <p:cNvSpPr/>
          <p:nvPr/>
        </p:nvSpPr>
        <p:spPr>
          <a:xfrm>
            <a:off x="9763125" y="5500688"/>
            <a:ext cx="7220712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DCR :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승인된 기준선 변경 제안, 재승인 전까지 영향 구현 보류</a:t>
            </a:r>
            <a:endParaRPr lang="en-US" sz="21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 ① — wf-design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관문과 기준선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957513"/>
            <a:ext cx="1533525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00175" y="3233738"/>
            <a:ext cx="90487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5C6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2809875" y="3238500"/>
            <a:ext cx="3810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343275" y="2957513"/>
            <a:ext cx="3522464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95700" y="3233738"/>
            <a:ext cx="292328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5C6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awaiting-approval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7094339" y="3238500"/>
            <a:ext cx="3810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627739" y="2976563"/>
            <a:ext cx="3851374" cy="876300"/>
          </a:xfrm>
          <a:prstGeom prst="roundRect">
            <a:avLst>
              <a:gd name="adj" fmla="val 13043"/>
            </a:avLst>
          </a:prstGeom>
          <a:solidFill>
            <a:srgbClr val="146B75"/>
          </a:solidFill>
          <a:ln/>
        </p:spPr>
      </p:sp>
      <p:sp>
        <p:nvSpPr>
          <p:cNvPr id="11" name="Text 9"/>
          <p:cNvSpPr/>
          <p:nvPr/>
        </p:nvSpPr>
        <p:spPr>
          <a:xfrm>
            <a:off x="7970639" y="3243263"/>
            <a:ext cx="32811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 — 기준선 vN</a:t>
            </a:r>
            <a:endParaRPr lang="en-US" sz="2175" dirty="0"/>
          </a:p>
        </p:txBody>
      </p:sp>
      <p:sp>
        <p:nvSpPr>
          <p:cNvPr id="12" name="Shape 10"/>
          <p:cNvSpPr/>
          <p:nvPr/>
        </p:nvSpPr>
        <p:spPr>
          <a:xfrm>
            <a:off x="13996243" y="2752725"/>
            <a:ext cx="3244007" cy="609600"/>
          </a:xfrm>
          <a:prstGeom prst="roundRect">
            <a:avLst>
              <a:gd name="adj" fmla="val 15625"/>
            </a:avLst>
          </a:prstGeom>
          <a:solidFill>
            <a:srgbClr val="F1EFE9"/>
          </a:solidFill>
          <a:ln w="9525">
            <a:solidFill>
              <a:srgbClr val="D8D4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253418" y="2895600"/>
            <a:ext cx="282697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8B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↩ 수정 요청 → draft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3996243" y="3476625"/>
            <a:ext cx="3244007" cy="600075"/>
          </a:xfrm>
          <a:prstGeom prst="roundRect">
            <a:avLst>
              <a:gd name="adj" fmla="val 15873"/>
            </a:avLst>
          </a:prstGeom>
          <a:solidFill>
            <a:srgbClr val="F1EFE9"/>
          </a:solidFill>
          <a:ln w="9525">
            <a:solidFill>
              <a:srgbClr val="D8D4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253418" y="3619500"/>
            <a:ext cx="2826977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8B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 / on-hold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047750" y="4762500"/>
            <a:ext cx="8591550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212"/>
              </a:lnSpc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승인은 문서에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영구화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대화에만 남기지 않고 승인 기록 절에 기록</a:t>
            </a:r>
            <a:endParaRPr lang="en-US" sz="2175" dirty="0"/>
          </a:p>
        </p:txBody>
      </p:sp>
      <p:sp>
        <p:nvSpPr>
          <p:cNvPr id="17" name="Text 15"/>
          <p:cNvSpPr/>
          <p:nvPr/>
        </p:nvSpPr>
        <p:spPr>
          <a:xfrm>
            <a:off x="9429750" y="4762500"/>
            <a:ext cx="8591550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212"/>
              </a:lnSpc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기준선은 vN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재승인마다 v2, v3… 번호 재사용 없음</a:t>
            </a:r>
            <a:endParaRPr lang="en-US" sz="2175" dirty="0"/>
          </a:p>
        </p:txBody>
      </p:sp>
      <p:sp>
        <p:nvSpPr>
          <p:cNvPr id="18" name="Text 16"/>
          <p:cNvSpPr/>
          <p:nvPr/>
        </p:nvSpPr>
        <p:spPr>
          <a:xfrm>
            <a:off x="1047750" y="5457230"/>
            <a:ext cx="8591550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212"/>
              </a:lnSpc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등록부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950" dirty="0">
                <a:solidFill>
                  <a:srgbClr val="2326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docs/decisions.md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ADR·DCR 전역 일련번호</a:t>
            </a:r>
            <a:endParaRPr lang="en-US" sz="2175" dirty="0"/>
          </a:p>
        </p:txBody>
      </p:sp>
      <p:sp>
        <p:nvSpPr>
          <p:cNvPr id="19" name="Text 17"/>
          <p:cNvSpPr/>
          <p:nvPr/>
        </p:nvSpPr>
        <p:spPr>
          <a:xfrm>
            <a:off x="9429750" y="5457230"/>
            <a:ext cx="8591550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212"/>
              </a:lnSpc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승인 ≠ 실행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push·배포·삭제는 별도 명시 승인</a:t>
            </a:r>
            <a:endParaRPr lang="en-US" sz="21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 ② — wf-implement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+ 구현 + 검증·리뷰 + 통합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714625"/>
            <a:ext cx="2735461" cy="1304925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70063" y="3038475"/>
            <a:ext cx="56703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31004" y="3429000"/>
            <a:ext cx="256895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8B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분해·의존성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954661" y="3205163"/>
            <a:ext cx="361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411861" y="2714625"/>
            <a:ext cx="2735610" cy="1304925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34174" y="3038475"/>
            <a:ext cx="56703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495108" y="3429000"/>
            <a:ext cx="256911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8B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테스트 명시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8921" y="3205163"/>
            <a:ext cx="361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7776121" y="2714625"/>
            <a:ext cx="2735610" cy="1304925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98434" y="3038475"/>
            <a:ext cx="56703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859368" y="3429000"/>
            <a:ext cx="256911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8B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 비례 6단계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683180" y="3205163"/>
            <a:ext cx="361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1140380" y="2714625"/>
            <a:ext cx="2735610" cy="1304925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980366" y="3038475"/>
            <a:ext cx="113183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자체 리뷰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1223627" y="3429000"/>
            <a:ext cx="256911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8B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4관점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047440" y="3205163"/>
            <a:ext cx="361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4504640" y="2714625"/>
            <a:ext cx="2735610" cy="1304925"/>
          </a:xfrm>
          <a:prstGeom prst="roundRect">
            <a:avLst>
              <a:gd name="adj" fmla="val 8759"/>
            </a:avLst>
          </a:prstGeom>
          <a:solidFill>
            <a:srgbClr val="E4EEEE"/>
          </a:solidFill>
          <a:ln w="9525">
            <a:solidFill>
              <a:srgbClr val="146B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337185" y="3038475"/>
            <a:ext cx="1146572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E5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통합·보고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4587887" y="3429000"/>
            <a:ext cx="256911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4E88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증거 포함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47750" y="4705350"/>
            <a:ext cx="8591550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212"/>
              </a:lnSpc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 조건 = 승인된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없으면 정식 구현을 시작하지 않음</a:t>
            </a:r>
            <a:endParaRPr lang="en-US" sz="2175" dirty="0"/>
          </a:p>
        </p:txBody>
      </p:sp>
      <p:sp>
        <p:nvSpPr>
          <p:cNvPr id="24" name="Text 22"/>
          <p:cNvSpPr/>
          <p:nvPr/>
        </p:nvSpPr>
        <p:spPr>
          <a:xfrm>
            <a:off x="9429750" y="4705350"/>
            <a:ext cx="8591550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212"/>
              </a:lnSpc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충돌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감지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영향 구현 보류, 증거와 함께 DCR로 반환</a:t>
            </a:r>
            <a:endParaRPr lang="en-US" sz="2175" dirty="0"/>
          </a:p>
        </p:txBody>
      </p:sp>
      <p:sp>
        <p:nvSpPr>
          <p:cNvPr id="25" name="Text 23"/>
          <p:cNvSpPr/>
          <p:nvPr/>
        </p:nvSpPr>
        <p:spPr>
          <a:xfrm>
            <a:off x="1047750" y="5400080"/>
            <a:ext cx="8591550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212"/>
              </a:lnSpc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“코드 작성됨” ≠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인수 조건과 검증 결과로만 판단</a:t>
            </a:r>
            <a:endParaRPr lang="en-US" sz="2175" dirty="0"/>
          </a:p>
        </p:txBody>
      </p:sp>
      <p:sp>
        <p:nvSpPr>
          <p:cNvPr id="26" name="Text 24"/>
          <p:cNvSpPr/>
          <p:nvPr/>
        </p:nvSpPr>
        <p:spPr>
          <a:xfrm>
            <a:off x="9429750" y="5400080"/>
            <a:ext cx="8591550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212"/>
              </a:lnSpc>
              <a:buNone/>
            </a:pP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실패·미수행 </a:t>
            </a:r>
            <a:r>
              <a:rPr lang="en-US" sz="2175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실행하지 못한 검증을 성공으로 간주하지 않음</a:t>
            </a:r>
            <a:endParaRPr lang="en-US" sz="21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 ② — wf-implement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최소 구현 원칙 : </a:t>
            </a:r>
            <a:r>
              <a:rPr lang="en-US" sz="4500" b="1" kern="0" spc="-75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</a:t>
            </a: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500" b="1" kern="0" spc="-75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사다리</a:t>
            </a: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(Ponytail)와 TDD(Superpowers)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600325"/>
            <a:ext cx="8082558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43025" y="2752725"/>
            <a:ext cx="77344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202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만들 필요가 있는가? (YAGNI)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1047750" y="3371850"/>
            <a:ext cx="7597527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43025" y="3524250"/>
            <a:ext cx="723490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202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저장소에 이미 있는가?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1047750" y="4143375"/>
            <a:ext cx="711264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43025" y="4295775"/>
            <a:ext cx="6735474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202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표준 라이브러리가 해결하는가?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047750" y="4914900"/>
            <a:ext cx="6627614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43025" y="5067300"/>
            <a:ext cx="6235892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202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플랫폼 네이티브 기능이 해결하는가?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1047750" y="5686425"/>
            <a:ext cx="6142732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43025" y="5838825"/>
            <a:ext cx="5736464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r>
              <a:rPr lang="en-US" sz="202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설치된 의존성이 해결하는가?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1047750" y="6457950"/>
            <a:ext cx="5657701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43025" y="6610350"/>
            <a:ext cx="5236882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r>
              <a:rPr lang="en-US" sz="2025" dirty="0">
                <a:solidFill>
                  <a:srgbClr val="232631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한 줄로 가능한가?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1047750" y="7229475"/>
            <a:ext cx="5172819" cy="657225"/>
          </a:xfrm>
          <a:prstGeom prst="roundRect">
            <a:avLst>
              <a:gd name="adj" fmla="val 11594"/>
            </a:avLst>
          </a:prstGeom>
          <a:solidFill>
            <a:srgbClr val="146B75"/>
          </a:solidFill>
          <a:ln/>
        </p:spPr>
      </p:sp>
      <p:sp>
        <p:nvSpPr>
          <p:cNvPr id="17" name="Text 15"/>
          <p:cNvSpPr/>
          <p:nvPr/>
        </p:nvSpPr>
        <p:spPr>
          <a:xfrm>
            <a:off x="1333500" y="7372350"/>
            <a:ext cx="4756504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r>
              <a:rPr lang="en-US" sz="2025" b="1" dirty="0">
                <a:solidFill>
                  <a:srgbClr val="FFFFFF"/>
                </a:solidFill>
                <a:highlight>
                  <a:srgbClr val="146B75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동작하는 최소 코드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047750" y="8115300"/>
            <a:ext cx="889081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8B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위에서부터 검토, 성립하는 첫 단계에서 멈춤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892308" y="2951708"/>
            <a:ext cx="7347942" cy="2035373"/>
          </a:xfrm>
          <a:prstGeom prst="roundRect">
            <a:avLst>
              <a:gd name="adj" fmla="val 6552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82833" y="3304133"/>
            <a:ext cx="722358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최소화 금지 영역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282833" y="3837533"/>
            <a:ext cx="6763899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 경계 입력 검증 · 데이터 손실 방지 오류 처리 · 보안·접근성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9892308" y="5291882"/>
            <a:ext cx="7347942" cy="1940123"/>
          </a:xfrm>
          <a:prstGeom prst="roundRect">
            <a:avLst>
              <a:gd name="adj" fmla="val 6873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82833" y="5644307"/>
            <a:ext cx="722358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TDD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282833" y="6082457"/>
            <a:ext cx="6763899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테스트가 필요한 로직은 실패하는 테스트 먼저 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Courier New" pitchFamily="34" charset="-122"/>
                <a:cs typeface="Arial" pitchFamily="34" charset="-120"/>
              </a:rPr>
              <a:t> - </a:t>
            </a:r>
            <a:r>
              <a:rPr lang="en-US" sz="1875" dirty="0">
                <a:solidFill>
                  <a:srgbClr val="B04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</a:t>
            </a:r>
            <a:r>
              <a:rPr lang="en-US" sz="1875" dirty="0">
                <a:solidFill>
                  <a:srgbClr val="5C6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</a:t>
            </a:r>
            <a:r>
              <a:rPr lang="en-US" sz="187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 </a:t>
            </a:r>
            <a:r>
              <a:rPr lang="en-US" sz="1875" dirty="0">
                <a:solidFill>
                  <a:srgbClr val="5C6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Refactor</a:t>
            </a:r>
            <a:endParaRPr lang="en-US" sz="2025" dirty="0"/>
          </a:p>
        </p:txBody>
      </p:sp>
      <p:sp>
        <p:nvSpPr>
          <p:cNvPr id="25" name="Shape 23"/>
          <p:cNvSpPr/>
          <p:nvPr/>
        </p:nvSpPr>
        <p:spPr>
          <a:xfrm>
            <a:off x="9892308" y="7536805"/>
            <a:ext cx="7347942" cy="1636812"/>
          </a:xfrm>
          <a:prstGeom prst="roundRect">
            <a:avLst>
              <a:gd name="adj" fmla="val 8147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82833" y="7889230"/>
            <a:ext cx="722358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버그 수정은 재현 테스트 먼저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282833" y="8422630"/>
            <a:ext cx="7223581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2025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경량</a:t>
            </a: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경로에서도 생략하지 않음</a:t>
            </a:r>
            <a:endParaRPr lang="en-US" sz="20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 ③ — wf-doc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공통 포맷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638425"/>
            <a:ext cx="7962900" cy="2035373"/>
          </a:xfrm>
          <a:prstGeom prst="roundRect">
            <a:avLst>
              <a:gd name="adj" fmla="val 6552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57325" y="2990850"/>
            <a:ext cx="785812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공통 머리말 + 요약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457325" y="3524250"/>
            <a:ext cx="7358063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· 작업 ID · 상태 · 기준선 · 날짜 · 관련 문서, 그리고 목적/결론/다음 행동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9277350" y="2638425"/>
            <a:ext cx="7962900" cy="2035373"/>
          </a:xfrm>
          <a:prstGeom prst="roundRect">
            <a:avLst>
              <a:gd name="adj" fmla="val 6552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86925" y="2990850"/>
            <a:ext cx="785812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어휘 11종 고정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686925" y="3524250"/>
            <a:ext cx="7358063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931"/>
              </a:lnSpc>
              <a:buNone/>
            </a:pPr>
            <a:r>
              <a:rPr lang="en-US" sz="1875" dirty="0">
                <a:solidFill>
                  <a:srgbClr val="5C6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 · awaiting-approval · approved · in-progress · completed · superseded …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047750" y="4940498"/>
            <a:ext cx="7962900" cy="2047875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7325" y="5292923"/>
            <a:ext cx="785812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식별자 2층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57325" y="5826323"/>
            <a:ext cx="7358063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ID </a:t>
            </a:r>
            <a:r>
              <a:rPr lang="en-US" sz="1800" dirty="0">
                <a:solidFill>
                  <a:srgbClr val="5C6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FR-01 · DES-01 · TASK-01 · VER-01 </a:t>
            </a: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문서 ID </a:t>
            </a:r>
            <a:r>
              <a:rPr lang="en-US" sz="1800" dirty="0">
                <a:solidFill>
                  <a:srgbClr val="5C6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REQ- · DESIGN- · WORK-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9277350" y="4940498"/>
            <a:ext cx="7962900" cy="2047875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86925" y="5292923"/>
            <a:ext cx="785812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하이퍼링크 </a:t>
            </a:r>
            <a:r>
              <a:rPr lang="en-US" sz="2250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강제</a:t>
            </a: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추적표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686925" y="5826323"/>
            <a:ext cx="7358063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7931"/>
              </a:lnSpc>
              <a:buNone/>
            </a:pPr>
            <a:r>
              <a:rPr lang="en-US" sz="187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 → DES → TASK → AC → VER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686925" y="6283523"/>
            <a:ext cx="785812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역방향 링크 포함, 클릭 가능한 관계만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047750" y="7293173"/>
            <a:ext cx="16192500" cy="1090613"/>
          </a:xfrm>
          <a:prstGeom prst="roundRect">
            <a:avLst>
              <a:gd name="adj" fmla="val 12227"/>
            </a:avLst>
          </a:prstGeom>
          <a:solidFill>
            <a:srgbClr val="1B202B"/>
          </a:solidFill>
          <a:ln/>
        </p:spPr>
      </p:sp>
      <p:sp>
        <p:nvSpPr>
          <p:cNvPr id="18" name="Text 16"/>
          <p:cNvSpPr/>
          <p:nvPr/>
        </p:nvSpPr>
        <p:spPr>
          <a:xfrm>
            <a:off x="741045" y="7617023"/>
            <a:ext cx="1680591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9167"/>
              </a:lnSpc>
              <a:buNone/>
            </a:pPr>
            <a:r>
              <a:rPr lang="en-US" sz="2325" dirty="0">
                <a:solidFill>
                  <a:srgbClr val="F1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“대화에만 존재하는 결정과 증거를 </a:t>
            </a:r>
            <a:r>
              <a:rPr lang="en-US" sz="2325" b="1" dirty="0">
                <a:solidFill>
                  <a:srgbClr val="7FB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문서의 확정 정보로 취급하지 않는다</a:t>
            </a:r>
            <a:r>
              <a:rPr lang="en-US" sz="2325" dirty="0">
                <a:solidFill>
                  <a:srgbClr val="F1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”</a:t>
            </a:r>
            <a:endParaRPr lang="en-US" sz="23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 ③ — wf-doc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</a:t>
            </a:r>
            <a:r>
              <a:rPr lang="en-US" sz="4500" b="1" kern="0" spc="-75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</a:t>
            </a: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저장소 관통 문서 + 작업 일지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638425"/>
            <a:ext cx="7753350" cy="6886575"/>
          </a:xfrm>
          <a:prstGeom prst="roundRect">
            <a:avLst>
              <a:gd name="adj" fmla="val 2213"/>
            </a:avLst>
          </a:prstGeom>
          <a:solidFill>
            <a:srgbClr val="1B202B"/>
          </a:solidFill>
          <a:ln/>
        </p:spPr>
      </p:sp>
      <p:sp>
        <p:nvSpPr>
          <p:cNvPr id="5" name="Text 3"/>
          <p:cNvSpPr/>
          <p:nvPr/>
        </p:nvSpPr>
        <p:spPr>
          <a:xfrm>
            <a:off x="1543050" y="3057525"/>
            <a:ext cx="6965633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2025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543050" y="3571875"/>
            <a:ext cx="6965633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2025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</a:t>
            </a:r>
            <a:r>
              <a:rPr lang="en-US" sz="2025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requirements.md </a:t>
            </a:r>
            <a:r>
              <a:rPr lang="en-US" sz="2025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현행 요구사항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543050" y="4086225"/>
            <a:ext cx="6965633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2025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</a:t>
            </a:r>
            <a:r>
              <a:rPr lang="en-US" sz="2025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design.md </a:t>
            </a:r>
            <a:r>
              <a:rPr lang="en-US" sz="2025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현행 설계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543050" y="4600575"/>
            <a:ext cx="6965633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2025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</a:t>
            </a:r>
            <a:r>
              <a:rPr lang="en-US" sz="2025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plan.md </a:t>
            </a:r>
            <a:r>
              <a:rPr lang="en-US" sz="2025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현행 계획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1543050" y="5114925"/>
            <a:ext cx="6965633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2025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</a:t>
            </a:r>
            <a:r>
              <a:rPr lang="en-US" sz="2025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decisions.md </a:t>
            </a:r>
            <a:r>
              <a:rPr lang="en-US" sz="2025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ADR·DCR 등록부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543050" y="5629275"/>
            <a:ext cx="6965633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2025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 </a:t>
            </a:r>
            <a:r>
              <a:rPr lang="en-US" sz="2025" dirty="0">
                <a:solidFill>
                  <a:srgbClr val="E8C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work/&lt;작업-ID&gt;/ </a:t>
            </a:r>
            <a:r>
              <a:rPr lang="en-US" sz="2025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작업 일지·ADR·DCR</a:t>
            </a:r>
            <a:endParaRPr lang="en-US" sz="2025" dirty="0"/>
          </a:p>
        </p:txBody>
      </p:sp>
      <p:sp>
        <p:nvSpPr>
          <p:cNvPr id="11" name="Text 9"/>
          <p:cNvSpPr/>
          <p:nvPr/>
        </p:nvSpPr>
        <p:spPr>
          <a:xfrm>
            <a:off x="9486900" y="4338638"/>
            <a:ext cx="85286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현행 문서 = “지금 유효한 것”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486900" y="4872038"/>
            <a:ext cx="852868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2100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저장소를</a:t>
            </a: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관통하며 기준선(v1→v2…)을 누적, 항상 한곳에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486900" y="5614988"/>
            <a:ext cx="85286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폴더 = 이력의 정본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486900" y="6148388"/>
            <a:ext cx="852868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2100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해당</a:t>
            </a: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작업의 기록과 결정만 보관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486900" y="6891338"/>
            <a:ext cx="85286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수 최소화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486900" y="7424737"/>
            <a:ext cx="852868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2100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검증·완료</a:t>
            </a: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보고는 work-log에 유형을 합쳐 기록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 ④ — wf-tree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트리와 포트폴리오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562225"/>
            <a:ext cx="6465094" cy="1315343"/>
          </a:xfrm>
          <a:prstGeom prst="roundRect">
            <a:avLst>
              <a:gd name="adj" fmla="val 10138"/>
            </a:avLst>
          </a:prstGeom>
          <a:solidFill>
            <a:srgbClr val="E4EEEE"/>
          </a:solidFill>
          <a:ln w="9525">
            <a:solidFill>
              <a:srgbClr val="B8D2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00175" y="2819400"/>
            <a:ext cx="5954197" cy="839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7424"/>
              </a:lnSpc>
              <a:buNone/>
            </a:pPr>
            <a:r>
              <a:rPr lang="en-US" sz="2175" dirty="0">
                <a:solidFill>
                  <a:srgbClr val="0E525A"/>
                </a:solidFill>
                <a:highlight>
                  <a:srgbClr val="E4EEEE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헌장: “</a:t>
            </a:r>
            <a:r>
              <a:rPr lang="en-US" sz="2175" b="1" dirty="0">
                <a:solidFill>
                  <a:srgbClr val="0E5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제안하되 결정하지 </a:t>
            </a:r>
            <a:r>
              <a:rPr lang="en-US" sz="2175" b="1" dirty="0" err="1">
                <a:solidFill>
                  <a:srgbClr val="0E5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않는다</a:t>
            </a:r>
            <a:r>
              <a:rPr lang="en-US" sz="2175" b="1" dirty="0">
                <a:solidFill>
                  <a:srgbClr val="0E5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175" dirty="0">
                <a:solidFill>
                  <a:srgbClr val="0E525A"/>
                </a:solidFill>
                <a:highlight>
                  <a:srgbClr val="E4EEEE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”</a:t>
            </a:r>
          </a:p>
          <a:p>
            <a:pPr marL="0" indent="0" algn="l">
              <a:lnSpc>
                <a:spcPct val="127424"/>
              </a:lnSpc>
              <a:buNone/>
            </a:pPr>
            <a:r>
              <a:rPr lang="en-US" sz="2175" dirty="0">
                <a:solidFill>
                  <a:srgbClr val="0E525A"/>
                </a:solidFill>
                <a:highlight>
                  <a:srgbClr val="E4EEEE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2175" dirty="0" err="1">
                <a:solidFill>
                  <a:srgbClr val="0E525A"/>
                </a:solidFill>
                <a:highlight>
                  <a:srgbClr val="E4EEEE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계획의</a:t>
            </a:r>
            <a:r>
              <a:rPr lang="en-US" sz="2175" dirty="0">
                <a:solidFill>
                  <a:srgbClr val="0E525A"/>
                </a:solidFill>
                <a:highlight>
                  <a:srgbClr val="E4EEEE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새 원천이 아니라 구조화·시각화 계층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1047750" y="4125218"/>
            <a:ext cx="6659047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Layer </a:t>
            </a:r>
            <a:r>
              <a:rPr lang="ko-KR" alt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체제</a:t>
            </a: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0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포트폴리오(노드 = 작업 1개) / 작업 내부(노드 = action item)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47750" y="5199459"/>
            <a:ext cx="6659047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분기 템플릿 :</a:t>
            </a:r>
            <a:r>
              <a:rPr lang="en-US" sz="210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design엔 리뷰+승인, implement엔 테스트(선행)+리뷰 자동 제안. 필수 게이트는 생략 제안 금지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6273701"/>
            <a:ext cx="6659047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</a:t>
            </a:r>
            <a:r>
              <a:rPr lang="en-US" sz="2100" b="1" dirty="0" err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</a:t>
            </a: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0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목록이 정본, 트리는 재생성물(generated). 다르면 목록이 맞음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47750" y="7347942"/>
            <a:ext cx="6659047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ko-KR" altLang="en-US" sz="2100" b="1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시각화</a:t>
            </a: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r>
              <a:rPr lang="en-US" sz="210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ASCII + Mermaid, 상태별 색상, depends 점선. 완료 노드는 되돌리지 않음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46244" y="2562225"/>
            <a:ext cx="9193857" cy="6962775"/>
          </a:xfrm>
          <a:prstGeom prst="roundRect">
            <a:avLst>
              <a:gd name="adj" fmla="val 2189"/>
            </a:avLst>
          </a:prstGeom>
          <a:solidFill>
            <a:srgbClr val="1B202B"/>
          </a:solidFill>
          <a:ln/>
        </p:spPr>
      </p:sp>
      <p:sp>
        <p:nvSpPr>
          <p:cNvPr id="11" name="Text 9"/>
          <p:cNvSpPr/>
          <p:nvPr/>
        </p:nvSpPr>
        <p:spPr>
          <a:xfrm>
            <a:off x="8427244" y="2867025"/>
            <a:ext cx="204114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E8C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 작성 예시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454283" y="2847975"/>
            <a:ext cx="543160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PLAN-20260808 · deckscan — generated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427244" y="3343275"/>
            <a:ext cx="8684813" cy="436170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[작업] deckscan (기준선 v5) </a:t>
            </a:r>
            <a:r>
              <a:rPr lang="en-US" sz="1800" dirty="0">
                <a:solidFill>
                  <a:srgbClr val="7C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completed </a:t>
            </a:r>
          </a:p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[✓] 설계 단계 (4/4) — 요구사항·설계 v1, ADR-001/002</a:t>
            </a:r>
            <a:endParaRPr lang="en-US" sz="1800" dirty="0"/>
          </a:p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 [</a:t>
            </a:r>
            <a:r>
              <a:rPr lang="en-US" sz="1800" dirty="0">
                <a:solidFill>
                  <a:srgbClr val="E8C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✓★</a:t>
            </a: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r>
              <a:rPr lang="en-US" sz="1800" dirty="0">
                <a:solidFill>
                  <a:srgbClr val="E8C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승인: 기준선 v1 </a:t>
            </a: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(2026-08-08)</a:t>
            </a:r>
            <a:endParaRPr lang="en-US" sz="1800" dirty="0"/>
          </a:p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[✓] 구현: TASK-01 프로젝트 뼈대</a:t>
            </a:r>
            <a:endParaRPr lang="en-US" sz="1800" dirty="0"/>
          </a:p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[✓] 구현: TASK-03 좌표 </a:t>
            </a:r>
            <a:r>
              <a:rPr lang="en-US" sz="1800" dirty="0" err="1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실측</a:t>
            </a: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89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[실기]</a:t>
            </a: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depends: 02 </a:t>
            </a:r>
          </a:p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[✓] 구현: TASK-04 DataStore </a:t>
            </a:r>
            <a:r>
              <a:rPr lang="en-US" sz="1800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[TDD] </a:t>
            </a:r>
          </a:p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[✓] 구현: TASK-08 DeckParser </a:t>
            </a:r>
            <a:r>
              <a:rPr lang="en-US" sz="1800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[TDD·AC-02 선행]</a:t>
            </a: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depends: 04~07 </a:t>
            </a:r>
          </a:p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[✓] 구현: TASK-10 ListWalker </a:t>
            </a:r>
            <a:r>
              <a:rPr lang="en-US" sz="1800" dirty="0">
                <a:solidFill>
                  <a:srgbClr val="E89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[실기]</a:t>
            </a: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depends: 08, 09 </a:t>
            </a:r>
          </a:p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[✓] 검증: TASK-12 실기 통합 AC-01~07 </a:t>
            </a:r>
            <a:r>
              <a:rPr lang="en-US" sz="1800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depends: 03, 09~11 </a:t>
            </a:r>
          </a:p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[✓] 구현: TASK-14 창 선택 FR-08 </a:t>
            </a:r>
            <a:r>
              <a:rPr lang="en-US" sz="1800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[TDD]</a:t>
            </a: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8C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(DCR-002) </a:t>
            </a:r>
          </a:p>
          <a:p>
            <a:pPr marL="0" indent="0" algn="l">
              <a:lnSpc>
                <a:spcPct val="152889"/>
              </a:lnSpc>
              <a:buNone/>
            </a:pPr>
            <a:r>
              <a:rPr lang="en-US" sz="1800" dirty="0">
                <a:solidFill>
                  <a:srgbClr val="C9C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 [✓] 문서화: TASK-13 README·완료 보고 </a:t>
            </a:r>
            <a:r>
              <a:rPr lang="en-US" sz="1800" dirty="0">
                <a:solidFill>
                  <a:srgbClr val="5F6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depends: 12, 14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27244" y="8572500"/>
            <a:ext cx="868481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B92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TASK-01~14 중 </a:t>
            </a:r>
            <a:r>
              <a:rPr lang="en-US" sz="1800" dirty="0" err="1">
                <a:solidFill>
                  <a:srgbClr val="8B92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발췌</a:t>
            </a:r>
            <a:r>
              <a:rPr lang="en-US" sz="1800" dirty="0">
                <a:solidFill>
                  <a:srgbClr val="8B92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8B92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800" dirty="0" err="1">
                <a:solidFill>
                  <a:srgbClr val="8B92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</a:t>
            </a:r>
            <a:r>
              <a:rPr lang="en-US" sz="1800" dirty="0">
                <a:solidFill>
                  <a:srgbClr val="8B92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관문에서 출발, depends 간선·실기/TDD 표지·DCR 이력까지 한 </a:t>
            </a:r>
            <a:r>
              <a:rPr lang="en-US" sz="1800" dirty="0" err="1">
                <a:solidFill>
                  <a:srgbClr val="8B92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그림에</a:t>
            </a:r>
            <a:r>
              <a:rPr lang="en-US" sz="1800" dirty="0">
                <a:solidFill>
                  <a:srgbClr val="8B92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1800" dirty="0">
                <a:solidFill>
                  <a:srgbClr val="8B92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표현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 ④ — wf-tree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Mermaid 표기 규칙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562225"/>
            <a:ext cx="1657350" cy="495300"/>
          </a:xfrm>
          <a:prstGeom prst="roundRect">
            <a:avLst>
              <a:gd name="adj" fmla="val 15385"/>
            </a:avLst>
          </a:prstGeom>
          <a:solidFill>
            <a:srgbClr val="C8E6C9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8700" y="2657475"/>
            <a:ext cx="16954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B3D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876550" y="2633663"/>
            <a:ext cx="541654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— 기준선이 바뀌어도 되돌리지 않음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1047750" y="3190875"/>
            <a:ext cx="1657350" cy="495300"/>
          </a:xfrm>
          <a:prstGeom prst="roundRect">
            <a:avLst>
              <a:gd name="adj" fmla="val 15385"/>
            </a:avLst>
          </a:prstGeom>
          <a:solidFill>
            <a:srgbClr val="FFF9C4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8700" y="3286125"/>
            <a:ext cx="16954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B52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876550" y="3262313"/>
            <a:ext cx="459536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in-progress — 활성 경로 뷰의 펼침 기준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47750" y="3819525"/>
            <a:ext cx="1657350" cy="495300"/>
          </a:xfrm>
          <a:prstGeom prst="roundRect">
            <a:avLst>
              <a:gd name="adj" fmla="val 15385"/>
            </a:avLst>
          </a:prstGeom>
          <a:solidFill>
            <a:srgbClr val="ECEFF1"/>
          </a:solidFill>
          <a:ln w="19050">
            <a:solidFill>
              <a:srgbClr val="90A4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8700" y="3914775"/>
            <a:ext cx="16954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4A5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76550" y="3890962"/>
            <a:ext cx="354974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— 아직 시작하지 않음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47750" y="4448175"/>
            <a:ext cx="1657350" cy="495300"/>
          </a:xfrm>
          <a:prstGeom prst="roundRect">
            <a:avLst>
              <a:gd name="adj" fmla="val 15385"/>
            </a:avLst>
          </a:prstGeom>
          <a:solidFill>
            <a:srgbClr val="FFCDD2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8700" y="4543425"/>
            <a:ext cx="16954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7A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876550" y="4519613"/>
            <a:ext cx="506292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미통과 필수 관문 — 상태가 아니라 관문 강조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47750" y="5172075"/>
            <a:ext cx="7117705" cy="9525"/>
          </a:xfrm>
          <a:prstGeom prst="rect">
            <a:avLst/>
          </a:prstGeom>
          <a:solidFill>
            <a:srgbClr val="E3E0D6"/>
          </a:solidFill>
          <a:ln/>
        </p:spPr>
      </p:sp>
      <p:sp>
        <p:nvSpPr>
          <p:cNvPr id="17" name="Text 15"/>
          <p:cNvSpPr/>
          <p:nvPr/>
        </p:nvSpPr>
        <p:spPr>
          <a:xfrm>
            <a:off x="1047750" y="5391150"/>
            <a:ext cx="7331236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 </a:t>
            </a:r>
            <a:r>
              <a:rPr lang="en-US" sz="202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이중 테두리 </a:t>
            </a:r>
            <a:r>
              <a:rPr lang="en-US" sz="1800" dirty="0">
                <a:solidFill>
                  <a:srgbClr val="2326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[[...]] </a:t>
            </a:r>
            <a:r>
              <a:rPr lang="en-US" sz="202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★. 통과하면 테두리·★ 유지한 채 done 색으로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047750" y="6315075"/>
            <a:ext cx="7331236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 점선 </a:t>
            </a:r>
            <a:r>
              <a:rPr lang="en-US" sz="202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화살표 머리 쪽이 대기자 (UML 의존성 화살표와 반대 방향)</a:t>
            </a:r>
            <a:endParaRPr lang="en-US" sz="2025" dirty="0"/>
          </a:p>
        </p:txBody>
      </p:sp>
      <p:sp>
        <p:nvSpPr>
          <p:cNvPr id="19" name="Text 17"/>
          <p:cNvSpPr/>
          <p:nvPr/>
        </p:nvSpPr>
        <p:spPr>
          <a:xfrm>
            <a:off x="1047750" y="7239000"/>
            <a:ext cx="7331236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test는 첫 자식 + (선행) </a:t>
            </a:r>
            <a:r>
              <a:rPr lang="en-US" sz="202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TDD 선행성은 구조가 아니라 배치·라벨로 표현</a:t>
            </a:r>
            <a:endParaRPr lang="en-US" sz="2025" dirty="0"/>
          </a:p>
        </p:txBody>
      </p:sp>
      <p:sp>
        <p:nvSpPr>
          <p:cNvPr id="20" name="Text 18"/>
          <p:cNvSpPr/>
          <p:nvPr/>
        </p:nvSpPr>
        <p:spPr>
          <a:xfrm>
            <a:off x="1047750" y="8162925"/>
            <a:ext cx="782947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생성물 표시 </a:t>
            </a:r>
            <a:r>
              <a:rPr lang="en-US" sz="202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r>
              <a:rPr lang="en-US" sz="1800" dirty="0">
                <a:solidFill>
                  <a:srgbClr val="2326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generated --&gt;</a:t>
            </a:r>
            <a:r>
              <a:rPr lang="en-US" sz="202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노드 30 초과 시 분할</a:t>
            </a:r>
            <a:endParaRPr lang="en-US" sz="2025" dirty="0"/>
          </a:p>
        </p:txBody>
      </p:sp>
      <p:sp>
        <p:nvSpPr>
          <p:cNvPr id="21" name="Shape 19"/>
          <p:cNvSpPr/>
          <p:nvPr/>
        </p:nvSpPr>
        <p:spPr>
          <a:xfrm>
            <a:off x="8698855" y="2562225"/>
            <a:ext cx="8541395" cy="6962775"/>
          </a:xfrm>
          <a:prstGeom prst="roundRect">
            <a:avLst>
              <a:gd name="adj" fmla="val 2189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89380" y="2876550"/>
            <a:ext cx="853637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B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예시 — 로그인 rate limit 추가 </a:t>
            </a:r>
            <a:r>
              <a:rPr lang="en-US" sz="1800" dirty="0">
                <a:solidFill>
                  <a:srgbClr val="B4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(SKILL.md §7)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1183392" y="4300538"/>
            <a:ext cx="3572173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23263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69142" y="4414838"/>
            <a:ext cx="310783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2326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로그인 rate limit 추가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12898041" y="4900613"/>
            <a:ext cx="2190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180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089380" y="5205413"/>
            <a:ext cx="1825675" cy="838200"/>
          </a:xfrm>
          <a:prstGeom prst="roundRect">
            <a:avLst>
              <a:gd name="adj" fmla="val 9091"/>
            </a:avLst>
          </a:prstGeom>
          <a:solidFill>
            <a:srgbClr val="C8E6C9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84630" y="5319713"/>
            <a:ext cx="1635175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B3D1E"/>
                </a:solidFill>
                <a:highlight>
                  <a:srgbClr val="C8E6C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설계: 정책·저장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930705" y="6119813"/>
            <a:ext cx="2190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180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089380" y="6424613"/>
            <a:ext cx="1825675" cy="838200"/>
          </a:xfrm>
          <a:prstGeom prst="roundRect">
            <a:avLst>
              <a:gd name="adj" fmla="val 9091"/>
            </a:avLst>
          </a:prstGeom>
          <a:solidFill>
            <a:srgbClr val="C8E6C9"/>
          </a:solidFill>
          <a:ln w="381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03680" y="6557963"/>
            <a:ext cx="159707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3D1E"/>
                </a:solidFill>
                <a:highlight>
                  <a:srgbClr val="C8E6C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 승인: 기준선 v1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1067455" y="5205413"/>
            <a:ext cx="1825823" cy="838200"/>
          </a:xfrm>
          <a:prstGeom prst="roundRect">
            <a:avLst>
              <a:gd name="adj" fmla="val 9091"/>
            </a:avLst>
          </a:prstGeom>
          <a:solidFill>
            <a:srgbClr val="FFF9C4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162705" y="5319713"/>
            <a:ext cx="1635323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B5200"/>
                </a:solidFill>
                <a:highlight>
                  <a:srgbClr val="FFF9C4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구현: TASK-01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908929" y="6119813"/>
            <a:ext cx="2190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180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1067455" y="6424613"/>
            <a:ext cx="1825823" cy="800100"/>
          </a:xfrm>
          <a:prstGeom prst="roundRect">
            <a:avLst>
              <a:gd name="adj" fmla="val 9524"/>
            </a:avLst>
          </a:prstGeom>
          <a:solidFill>
            <a:srgbClr val="FFF9C4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143655" y="6519863"/>
            <a:ext cx="1673423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B5200"/>
                </a:solidFill>
                <a:highlight>
                  <a:srgbClr val="FFF9C4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테스트: 단위 (선행)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1067455" y="7300913"/>
            <a:ext cx="1825823" cy="495300"/>
          </a:xfrm>
          <a:prstGeom prst="roundRect">
            <a:avLst>
              <a:gd name="adj" fmla="val 15385"/>
            </a:avLst>
          </a:prstGeom>
          <a:solidFill>
            <a:srgbClr val="ECEFF1"/>
          </a:solidFill>
          <a:ln w="19050">
            <a:solidFill>
              <a:srgbClr val="90A4A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43655" y="7396162"/>
            <a:ext cx="167342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4A5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리뷰: 자체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3045678" y="5205413"/>
            <a:ext cx="1825823" cy="838200"/>
          </a:xfrm>
          <a:prstGeom prst="roundRect">
            <a:avLst>
              <a:gd name="adj" fmla="val 9091"/>
            </a:avLst>
          </a:prstGeom>
          <a:solidFill>
            <a:srgbClr val="ECEFF1"/>
          </a:solidFill>
          <a:ln w="19050">
            <a:solidFill>
              <a:srgbClr val="90A4A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140928" y="5319713"/>
            <a:ext cx="1635323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4A5560"/>
                </a:solidFill>
                <a:highlight>
                  <a:srgbClr val="ECEFF1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구현: TASK-03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3088094" y="6119813"/>
            <a:ext cx="1740843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8B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⇠ ⋯ depends TASK-01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5023902" y="5205413"/>
            <a:ext cx="1825823" cy="533400"/>
          </a:xfrm>
          <a:prstGeom prst="roundRect">
            <a:avLst>
              <a:gd name="adj" fmla="val 14286"/>
            </a:avLst>
          </a:prstGeom>
          <a:solidFill>
            <a:srgbClr val="ECEFF1"/>
          </a:solidFill>
          <a:ln w="19050">
            <a:solidFill>
              <a:srgbClr val="90A4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119152" y="5319713"/>
            <a:ext cx="163532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4A5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통합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5865376" y="5815013"/>
            <a:ext cx="2190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180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5023902" y="6119813"/>
            <a:ext cx="1825823" cy="838200"/>
          </a:xfrm>
          <a:prstGeom prst="roundRect">
            <a:avLst>
              <a:gd name="adj" fmla="val 9091"/>
            </a:avLst>
          </a:prstGeom>
          <a:solidFill>
            <a:srgbClr val="FFCDD2"/>
          </a:solidFill>
          <a:ln w="38100">
            <a:solidFill>
              <a:srgbClr val="C6282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138202" y="6253162"/>
            <a:ext cx="1597223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A1B1B"/>
                </a:solidFill>
                <a:highlight>
                  <a:srgbClr val="FFCDD2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 릴리스: 별도 승인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8701363" y="8877300"/>
            <a:ext cx="853637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8B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완료는 초록, 진행 중은 노랑, 대기는 회색 — 미통과 관문만 빨강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LIGHTWEIGHT PATH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경량 경로 : 모든 작업이 정식 경로는 아니다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638425"/>
            <a:ext cx="7943850" cy="6124575"/>
          </a:xfrm>
          <a:prstGeom prst="roundRect">
            <a:avLst>
              <a:gd name="adj" fmla="val 2177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14475" y="3067050"/>
            <a:ext cx="77114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모두 충족 시 WF1 생략 가능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14475" y="3771900"/>
            <a:ext cx="771144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동작·공개 인터페이스·데이터 모델·보안에 무영향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1514475" y="4376738"/>
            <a:ext cx="771144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국소적이고 되돌리기 쉬움</a:t>
            </a:r>
            <a:endParaRPr lang="en-US" sz="2175" dirty="0"/>
          </a:p>
        </p:txBody>
      </p:sp>
      <p:sp>
        <p:nvSpPr>
          <p:cNvPr id="8" name="Text 6"/>
          <p:cNvSpPr/>
          <p:nvPr/>
        </p:nvSpPr>
        <p:spPr>
          <a:xfrm>
            <a:off x="1514475" y="4981575"/>
            <a:ext cx="771144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새 설계 결정·대안 비교 불요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1514475" y="5643563"/>
            <a:ext cx="722071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806"/>
              </a:lnSpc>
              <a:buNone/>
            </a:pPr>
            <a:r>
              <a:rPr lang="en-US" sz="1950" dirty="0">
                <a:solidFill>
                  <a:srgbClr val="8B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오타·주석 수정, 원인 명확한 단일 버그, 계약을 안 바꾸는 테스트 보강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296400" y="2638425"/>
            <a:ext cx="7943850" cy="6124575"/>
          </a:xfrm>
          <a:prstGeom prst="roundRect">
            <a:avLst>
              <a:gd name="adj" fmla="val 2177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63125" y="3067050"/>
            <a:ext cx="77114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A97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생략할 수 없는 것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763125" y="3771900"/>
            <a:ext cx="771144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범위 준수</a:t>
            </a:r>
            <a:endParaRPr lang="en-US" sz="2175" dirty="0"/>
          </a:p>
        </p:txBody>
      </p:sp>
      <p:sp>
        <p:nvSpPr>
          <p:cNvPr id="13" name="Text 11"/>
          <p:cNvSpPr/>
          <p:nvPr/>
        </p:nvSpPr>
        <p:spPr>
          <a:xfrm>
            <a:off x="9763125" y="4376738"/>
            <a:ext cx="771144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 비례 검증</a:t>
            </a:r>
            <a:endParaRPr lang="en-US" sz="2175" dirty="0"/>
          </a:p>
        </p:txBody>
      </p:sp>
      <p:sp>
        <p:nvSpPr>
          <p:cNvPr id="14" name="Text 12"/>
          <p:cNvSpPr/>
          <p:nvPr/>
        </p:nvSpPr>
        <p:spPr>
          <a:xfrm>
            <a:off x="9763125" y="4981575"/>
            <a:ext cx="771144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결과·위험 보고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9763125" y="5586413"/>
            <a:ext cx="771144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버그 재현 테스트</a:t>
            </a:r>
            <a:endParaRPr lang="en-US" sz="2175" dirty="0"/>
          </a:p>
        </p:txBody>
      </p:sp>
      <p:sp>
        <p:nvSpPr>
          <p:cNvPr id="16" name="Text 14"/>
          <p:cNvSpPr/>
          <p:nvPr/>
        </p:nvSpPr>
        <p:spPr>
          <a:xfrm>
            <a:off x="238125" y="9105900"/>
            <a:ext cx="178117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판단이 애매하면 </a:t>
            </a:r>
            <a:r>
              <a:rPr lang="en-US" sz="2250" b="1" dirty="0">
                <a:solidFill>
                  <a:srgbClr val="14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정식 경로 </a:t>
            </a: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진행 중 조건을 벗어나면 그 시점에 전환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HANDOFF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핸드오프 : 3층 설계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2409825"/>
            <a:ext cx="1781175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정본 원칙만으로 부족한 세 지점: 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재개 진입 </a:t>
            </a:r>
            <a:r>
              <a:rPr lang="en-US" sz="217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절단 신호 </a:t>
            </a:r>
            <a:r>
              <a:rPr lang="en-US" sz="217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en-US" sz="2175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 안전망 :</a:t>
            </a:r>
            <a:r>
              <a:rPr lang="en-US" sz="217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모두 사람·모델의 자발성 의존</a:t>
            </a:r>
            <a:endParaRPr lang="en-US" sz="2175" dirty="0"/>
          </a:p>
        </p:txBody>
      </p:sp>
      <p:sp>
        <p:nvSpPr>
          <p:cNvPr id="5" name="Shape 3"/>
          <p:cNvSpPr/>
          <p:nvPr/>
        </p:nvSpPr>
        <p:spPr>
          <a:xfrm>
            <a:off x="1047750" y="3243263"/>
            <a:ext cx="5219700" cy="5538788"/>
          </a:xfrm>
          <a:prstGeom prst="roundRect">
            <a:avLst>
              <a:gd name="adj" fmla="val 2555"/>
            </a:avLst>
          </a:prstGeom>
          <a:solidFill>
            <a:srgbClr val="FFFFFF"/>
          </a:solidFill>
          <a:ln w="19050">
            <a:solidFill>
              <a:srgbClr val="14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47800" y="3657600"/>
            <a:ext cx="60081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A층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2124819" y="3643313"/>
            <a:ext cx="1356420" cy="419100"/>
          </a:xfrm>
          <a:prstGeom prst="roundRect">
            <a:avLst>
              <a:gd name="adj" fmla="val 13636"/>
            </a:avLst>
          </a:prstGeom>
          <a:solidFill>
            <a:srgbClr val="E4EEEE"/>
          </a:solidFill>
          <a:ln/>
        </p:spPr>
      </p:sp>
      <p:sp>
        <p:nvSpPr>
          <p:cNvPr id="8" name="Text 6"/>
          <p:cNvSpPr/>
          <p:nvPr/>
        </p:nvSpPr>
        <p:spPr>
          <a:xfrm>
            <a:off x="2277219" y="3700463"/>
            <a:ext cx="112782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E52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적용 완료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47800" y="4252913"/>
            <a:ext cx="4861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스킬 불변식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447800" y="4786313"/>
            <a:ext cx="4552188" cy="1233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항목마다 작업 기록 갱신 — 언제 끊겨도 문서만으로 재개. 하네스와 무관하게 동작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6534150" y="3243263"/>
            <a:ext cx="5219700" cy="5538788"/>
          </a:xfrm>
          <a:prstGeom prst="roundRect">
            <a:avLst>
              <a:gd name="adj" fmla="val 255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24675" y="3648075"/>
            <a:ext cx="60081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8B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B층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7601694" y="3633788"/>
            <a:ext cx="1585020" cy="419100"/>
          </a:xfrm>
          <a:prstGeom prst="roundRect">
            <a:avLst>
              <a:gd name="adj" fmla="val 13636"/>
            </a:avLst>
          </a:prstGeom>
          <a:solidFill>
            <a:srgbClr val="F1EFE9"/>
          </a:solidFill>
          <a:ln/>
        </p:spPr>
      </p:sp>
      <p:sp>
        <p:nvSpPr>
          <p:cNvPr id="14" name="Text 12"/>
          <p:cNvSpPr/>
          <p:nvPr/>
        </p:nvSpPr>
        <p:spPr>
          <a:xfrm>
            <a:off x="7754094" y="3690938"/>
            <a:ext cx="135642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B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미착수 후보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924675" y="4243388"/>
            <a:ext cx="488251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저장소 스크립트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6924675" y="4776788"/>
            <a:ext cx="4882515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재개 가능성 린트 등 결정적 검사 도구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12020550" y="3243263"/>
            <a:ext cx="5219700" cy="5538788"/>
          </a:xfrm>
          <a:prstGeom prst="roundRect">
            <a:avLst>
              <a:gd name="adj" fmla="val 2555"/>
            </a:avLst>
          </a:prstGeom>
          <a:solidFill>
            <a:srgbClr val="FFFFFF"/>
          </a:solidFill>
          <a:ln w="19050">
            <a:solidFill>
              <a:srgbClr val="146B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20600" y="3657600"/>
            <a:ext cx="60081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C층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3097619" y="3643313"/>
            <a:ext cx="1950839" cy="419100"/>
          </a:xfrm>
          <a:prstGeom prst="roundRect">
            <a:avLst>
              <a:gd name="adj" fmla="val 13636"/>
            </a:avLst>
          </a:prstGeom>
          <a:solidFill>
            <a:srgbClr val="E4EEEE"/>
          </a:solidFill>
          <a:ln/>
        </p:spPr>
      </p:sp>
      <p:sp>
        <p:nvSpPr>
          <p:cNvPr id="20" name="Text 18"/>
          <p:cNvSpPr/>
          <p:nvPr/>
        </p:nvSpPr>
        <p:spPr>
          <a:xfrm>
            <a:off x="13250019" y="3700463"/>
            <a:ext cx="172223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E52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참조 구현 완료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20600" y="4252913"/>
            <a:ext cx="4861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자동화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420600" y="4786313"/>
            <a:ext cx="4552188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하네스의 확장점으로 세 지점을 기계화. TDD 21/21 · 실설치·실세션 실증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238125" y="9124950"/>
            <a:ext cx="178117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31250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원칙: 스킬 본문은 </a:t>
            </a: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중립 </a:t>
            </a: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하네스 의존 자동화는 </a:t>
            </a:r>
            <a:r>
              <a:rPr lang="en-US" sz="1950" dirty="0">
                <a:solidFill>
                  <a:srgbClr val="5C6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setup/ </a:t>
            </a: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어댑터에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HANDOFF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C층 어댑터가 기계화하는 3개입 지점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638425"/>
            <a:ext cx="1619250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8275" y="2914650"/>
            <a:ext cx="31432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시작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4257675" y="2962275"/>
            <a:ext cx="742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962525" y="2930872"/>
            <a:ext cx="1307592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875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미완료 작업 기록 감지 시 </a:t>
            </a:r>
            <a:r>
              <a:rPr lang="en-US" sz="2100" b="1" dirty="0">
                <a:solidFill>
                  <a:srgbClr val="14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“재개 절차를 먼저 적용하라” </a:t>
            </a: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주입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47750" y="3819525"/>
            <a:ext cx="1619250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38275" y="4095750"/>
            <a:ext cx="31432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실행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4257675" y="4143375"/>
            <a:ext cx="742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4962525" y="4111972"/>
            <a:ext cx="1307592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875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사용량 임계값 초과 시 </a:t>
            </a:r>
            <a:r>
              <a:rPr lang="en-US" sz="2100" b="1" dirty="0">
                <a:solidFill>
                  <a:srgbClr val="14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“다음 계획 항목 경계에서 인계” </a:t>
            </a: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기록 갱신 후 안전한 절단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47750" y="5000625"/>
            <a:ext cx="1619250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38275" y="5276850"/>
            <a:ext cx="31432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 직후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4257675" y="5324475"/>
            <a:ext cx="742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B4B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62525" y="5293072"/>
            <a:ext cx="1307592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875"/>
              </a:lnSpc>
              <a:buNone/>
            </a:pP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“요약은 손실 압축 — </a:t>
            </a:r>
            <a:r>
              <a:rPr lang="en-US" sz="2100" b="1" dirty="0">
                <a:solidFill>
                  <a:srgbClr val="14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기록을 정본으로 재확인</a:t>
            </a:r>
            <a:r>
              <a:rPr lang="en-US" sz="210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” 주입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7750" y="6505575"/>
            <a:ext cx="8044815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주입은 포인터만 :</a:t>
            </a:r>
            <a:r>
              <a:rPr lang="en-US" sz="210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스킬이 이미 규정한 절차를 가리킬 뿐, 새 규범을 만들지 않음. 오류 시 fail-open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429750" y="6505575"/>
            <a:ext cx="8044815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SEMCo-Work 어댑터는 후보 과제 :</a:t>
            </a:r>
            <a:r>
              <a:rPr lang="en-US" sz="2100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참조 구현의 계약 테스트·설치 패턴 재사용, 확장점 3가지 확인 필요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7250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25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14450"/>
            <a:ext cx="178117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이력 — 17일, 커밋 26개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752725"/>
            <a:ext cx="3876675" cy="38100"/>
          </a:xfrm>
          <a:prstGeom prst="rect">
            <a:avLst/>
          </a:prstGeom>
          <a:solidFill>
            <a:srgbClr val="146B75"/>
          </a:solidFill>
          <a:ln/>
        </p:spPr>
      </p:sp>
      <p:sp>
        <p:nvSpPr>
          <p:cNvPr id="5" name="Text 3"/>
          <p:cNvSpPr/>
          <p:nvPr/>
        </p:nvSpPr>
        <p:spPr>
          <a:xfrm>
            <a:off x="1047750" y="3038475"/>
            <a:ext cx="426434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07-24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3429000"/>
            <a:ext cx="426434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047750" y="3943350"/>
            <a:ext cx="426434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806"/>
              </a:lnSpc>
              <a:buNone/>
            </a:pPr>
            <a:r>
              <a:rPr lang="en-US" sz="195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 워크플로우 </a:t>
            </a:r>
            <a:r>
              <a:rPr lang="en-US" sz="1950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개요를</a:t>
            </a:r>
            <a:r>
              <a:rPr lang="en-US" sz="195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l">
              <a:lnSpc>
                <a:spcPct val="125806"/>
              </a:lnSpc>
              <a:buNone/>
            </a:pPr>
            <a:r>
              <a:rPr lang="en-US" sz="1950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문서로</a:t>
            </a:r>
            <a:r>
              <a:rPr lang="en-US" sz="195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정의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153025" y="2752725"/>
            <a:ext cx="3876675" cy="38100"/>
          </a:xfrm>
          <a:prstGeom prst="rect">
            <a:avLst/>
          </a:prstGeom>
          <a:solidFill>
            <a:srgbClr val="146B75"/>
          </a:solidFill>
          <a:ln/>
        </p:spPr>
      </p:sp>
      <p:sp>
        <p:nvSpPr>
          <p:cNvPr id="9" name="Text 7"/>
          <p:cNvSpPr/>
          <p:nvPr/>
        </p:nvSpPr>
        <p:spPr>
          <a:xfrm>
            <a:off x="5153025" y="3038475"/>
            <a:ext cx="426434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07-25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153025" y="3429000"/>
            <a:ext cx="426434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보강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153025" y="3943350"/>
            <a:ext cx="399297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806"/>
              </a:lnSpc>
              <a:buNone/>
            </a:pPr>
            <a:r>
              <a:rPr lang="en-US" sz="1950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경량</a:t>
            </a:r>
            <a:r>
              <a:rPr lang="en-US" sz="195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경로/</a:t>
            </a:r>
            <a:r>
              <a:rPr lang="en-US" sz="1950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추적성</a:t>
            </a:r>
            <a:r>
              <a:rPr lang="en-US" sz="195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en-US" sz="1950" dirty="0" err="1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r>
              <a:rPr lang="en-US" sz="195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연속성, 문서 → 실행형 스킬 변환, 설치 스크립트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258300" y="2752725"/>
            <a:ext cx="3876675" cy="38100"/>
          </a:xfrm>
          <a:prstGeom prst="rect">
            <a:avLst/>
          </a:prstGeom>
          <a:solidFill>
            <a:srgbClr val="146B75"/>
          </a:solidFill>
          <a:ln/>
        </p:spPr>
      </p:sp>
      <p:sp>
        <p:nvSpPr>
          <p:cNvPr id="13" name="Text 11"/>
          <p:cNvSpPr/>
          <p:nvPr/>
        </p:nvSpPr>
        <p:spPr>
          <a:xfrm>
            <a:off x="9258300" y="3038475"/>
            <a:ext cx="426434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08-08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258300" y="3429000"/>
            <a:ext cx="426434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정합성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258300" y="3943350"/>
            <a:ext cx="399297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5806"/>
              </a:lnSpc>
              <a:buNone/>
            </a:pPr>
            <a:r>
              <a:rPr lang="en-US" sz="195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스킬 경계 정리·wf-doc 도입, 역공학 절차, wf-tree, TDD 규정, 루트 라우터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3363575" y="2752725"/>
            <a:ext cx="3876675" cy="38100"/>
          </a:xfrm>
          <a:prstGeom prst="rect">
            <a:avLst/>
          </a:prstGeom>
          <a:solidFill>
            <a:srgbClr val="146B75"/>
          </a:solidFill>
          <a:ln/>
        </p:spPr>
      </p:sp>
      <p:sp>
        <p:nvSpPr>
          <p:cNvPr id="17" name="Text 15"/>
          <p:cNvSpPr/>
          <p:nvPr/>
        </p:nvSpPr>
        <p:spPr>
          <a:xfrm>
            <a:off x="13363575" y="3038475"/>
            <a:ext cx="426434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6B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08-09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363575" y="3429000"/>
            <a:ext cx="426434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3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63575" y="3943350"/>
            <a:ext cx="399297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5806"/>
              </a:lnSpc>
              <a:buNone/>
            </a:pPr>
            <a:r>
              <a:rPr lang="en-US" sz="1950" dirty="0">
                <a:solidFill>
                  <a:srgbClr val="5C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모델 재편, 핸드오프 A층 명문화, C층 참조 구현·실증, 이 발표 자료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047750" y="5372100"/>
            <a:ext cx="16192500" cy="1047750"/>
          </a:xfrm>
          <a:prstGeom prst="roundRect">
            <a:avLst>
              <a:gd name="adj" fmla="val 12727"/>
            </a:avLst>
          </a:prstGeom>
          <a:solidFill>
            <a:srgbClr val="E4EEEE"/>
          </a:solidFill>
          <a:ln w="9525">
            <a:solidFill>
              <a:srgbClr val="B8D2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71588" y="5686425"/>
            <a:ext cx="1574482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0E525A"/>
                </a:solidFill>
                <a:highlight>
                  <a:srgbClr val="E4EEEE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워크플로우로 워크플로우를 개발 — C층과 이 자료가 </a:t>
            </a:r>
            <a:r>
              <a:rPr lang="en-US" sz="2250" b="1" dirty="0">
                <a:solidFill>
                  <a:srgbClr val="0E5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관문·TDD를 통과한 정식 사이클</a:t>
            </a:r>
            <a:endParaRPr lang="en-US" sz="2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857250"/>
            <a:ext cx="171831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00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33500" y="1314450"/>
            <a:ext cx="1718310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1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원칙 4 — 그리고 남은 과제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333500" y="2714625"/>
            <a:ext cx="7620000" cy="1609725"/>
          </a:xfrm>
          <a:prstGeom prst="roundRect">
            <a:avLst>
              <a:gd name="adj" fmla="val 7101"/>
            </a:avLst>
          </a:prstGeom>
          <a:solidFill>
            <a:srgbClr val="262D3C"/>
          </a:solidFill>
          <a:ln/>
        </p:spPr>
      </p:sp>
      <p:sp>
        <p:nvSpPr>
          <p:cNvPr id="5" name="Text 3"/>
          <p:cNvSpPr/>
          <p:nvPr/>
        </p:nvSpPr>
        <p:spPr>
          <a:xfrm>
            <a:off x="1752600" y="3057525"/>
            <a:ext cx="745998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F1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없는 구현 없음</a:t>
            </a:r>
            <a:endParaRPr lang="en-US" sz="2475" dirty="0"/>
          </a:p>
        </p:txBody>
      </p:sp>
      <p:sp>
        <p:nvSpPr>
          <p:cNvPr id="6" name="Text 4"/>
          <p:cNvSpPr/>
          <p:nvPr/>
        </p:nvSpPr>
        <p:spPr>
          <a:xfrm>
            <a:off x="1752600" y="3609975"/>
            <a:ext cx="745998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9C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기준선이 먼저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9334500" y="2714625"/>
            <a:ext cx="7620000" cy="1609725"/>
          </a:xfrm>
          <a:prstGeom prst="roundRect">
            <a:avLst>
              <a:gd name="adj" fmla="val 7101"/>
            </a:avLst>
          </a:prstGeom>
          <a:solidFill>
            <a:srgbClr val="262D3C"/>
          </a:solidFill>
          <a:ln/>
        </p:spPr>
      </p:sp>
      <p:sp>
        <p:nvSpPr>
          <p:cNvPr id="8" name="Text 6"/>
          <p:cNvSpPr/>
          <p:nvPr/>
        </p:nvSpPr>
        <p:spPr>
          <a:xfrm>
            <a:off x="9753600" y="3057525"/>
            <a:ext cx="745998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F1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완료는 선언이 아니라 증거</a:t>
            </a:r>
            <a:endParaRPr lang="en-US" sz="2475" dirty="0"/>
          </a:p>
        </p:txBody>
      </p:sp>
      <p:sp>
        <p:nvSpPr>
          <p:cNvPr id="9" name="Text 7"/>
          <p:cNvSpPr/>
          <p:nvPr/>
        </p:nvSpPr>
        <p:spPr>
          <a:xfrm>
            <a:off x="9753600" y="3609975"/>
            <a:ext cx="745998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9C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실패·미수행도 공개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333500" y="4591050"/>
            <a:ext cx="7620000" cy="1609725"/>
          </a:xfrm>
          <a:prstGeom prst="roundRect">
            <a:avLst>
              <a:gd name="adj" fmla="val 7101"/>
            </a:avLst>
          </a:prstGeom>
          <a:solidFill>
            <a:srgbClr val="262D3C"/>
          </a:solidFill>
          <a:ln/>
        </p:spPr>
      </p:sp>
      <p:sp>
        <p:nvSpPr>
          <p:cNvPr id="11" name="Text 9"/>
          <p:cNvSpPr/>
          <p:nvPr/>
        </p:nvSpPr>
        <p:spPr>
          <a:xfrm>
            <a:off x="1752600" y="4933950"/>
            <a:ext cx="745998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F1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문서가 정본</a:t>
            </a:r>
            <a:endParaRPr lang="en-US" sz="2475" dirty="0"/>
          </a:p>
        </p:txBody>
      </p:sp>
      <p:sp>
        <p:nvSpPr>
          <p:cNvPr id="12" name="Text 10"/>
          <p:cNvSpPr/>
          <p:nvPr/>
        </p:nvSpPr>
        <p:spPr>
          <a:xfrm>
            <a:off x="1752600" y="5486400"/>
            <a:ext cx="745998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9C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대화는 휘발 — 언제 끊겨도 재개 가능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9334500" y="4591050"/>
            <a:ext cx="7620000" cy="1609725"/>
          </a:xfrm>
          <a:prstGeom prst="roundRect">
            <a:avLst>
              <a:gd name="adj" fmla="val 7101"/>
            </a:avLst>
          </a:prstGeom>
          <a:solidFill>
            <a:srgbClr val="262D3C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4933950"/>
            <a:ext cx="745998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F1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스킬은 하네스 중립</a:t>
            </a:r>
            <a:endParaRPr lang="en-US" sz="2475" dirty="0"/>
          </a:p>
        </p:txBody>
      </p:sp>
      <p:sp>
        <p:nvSpPr>
          <p:cNvPr id="15" name="Text 13"/>
          <p:cNvSpPr/>
          <p:nvPr/>
        </p:nvSpPr>
        <p:spPr>
          <a:xfrm>
            <a:off x="9753600" y="5486400"/>
            <a:ext cx="745998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9C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자동화는 어댑터에</a:t>
            </a:r>
            <a:endParaRPr lang="en-US" sz="2025" dirty="0"/>
          </a:p>
        </p:txBody>
      </p:sp>
      <p:sp>
        <p:nvSpPr>
          <p:cNvPr id="16" name="Text 14"/>
          <p:cNvSpPr/>
          <p:nvPr/>
        </p:nvSpPr>
        <p:spPr>
          <a:xfrm>
            <a:off x="1333500" y="6734175"/>
            <a:ext cx="16089630" cy="89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9C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현재: 스킬 4종 + 라우터 + 문서 모델 + 설치 체계 + C층 참조 구현 — </a:t>
            </a:r>
            <a:r>
              <a:rPr lang="en-US" sz="2100" b="1" dirty="0">
                <a:solidFill>
                  <a:srgbClr val="F1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중 </a:t>
            </a:r>
            <a:r>
              <a:rPr lang="en-US" sz="2100" dirty="0">
                <a:solidFill>
                  <a:srgbClr val="9C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과제: SEMCo-Work C층 어댑터(우선 제안) · B층 린트 · 플랫폼 확장 · 주입 지연 최적화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333500" y="8006655"/>
            <a:ext cx="171831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7FB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github.com/bluesky5008/llm_workflow — README부터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2468</Words>
  <Application>Microsoft Office PowerPoint</Application>
  <PresentationFormat>사용자 지정</PresentationFormat>
  <Paragraphs>317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맑은 고딕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yongjin jeong</cp:lastModifiedBy>
  <cp:revision>16</cp:revision>
  <dcterms:created xsi:type="dcterms:W3CDTF">2026-08-09T13:26:46Z</dcterms:created>
  <dcterms:modified xsi:type="dcterms:W3CDTF">2026-08-09T13:42:03Z</dcterms:modified>
</cp:coreProperties>
</file>